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68f475469f4f3a" /><Relationship Type="http://schemas.openxmlformats.org/officeDocument/2006/relationships/extended-properties" Target="/docProps/app.xml" Id="Rdfc2cf8151604952" /><Relationship Type="http://schemas.openxmlformats.org/officeDocument/2006/relationships/officeDocument" Target="/ppt/presentation.xml" Id="R33e5909be9124f27" /></Relationships>
</file>

<file path=ppt/presentation.xml><?xml version="1.0" encoding="utf-8"?>
<p:presentation xmlns:p="http://schemas.openxmlformats.org/presentationml/2006/main">
  <p:sldMasterIdLst>
    <p:sldMasterId xmlns:r="http://schemas.openxmlformats.org/officeDocument/2006/relationships" id="2147483648" r:id="R4e203cc79bfa4bb6"/>
  </p:sldMasterIdLst>
  <p:notesMasterIdLst>
    <p:notesMasterId xmlns:r="http://schemas.openxmlformats.org/officeDocument/2006/relationships" r:id="R88dfd7e4097949f8"/>
  </p:notesMasterIdLst>
  <p:sldIdLst>
    <p:sldId xmlns:r="http://schemas.openxmlformats.org/officeDocument/2006/relationships" id="256" r:id="R5acf2260c3594ff2"/>
    <p:sldId xmlns:r="http://schemas.openxmlformats.org/officeDocument/2006/relationships" id="257" r:id="R9d6627d8f49d498e"/>
    <p:sldId xmlns:r="http://schemas.openxmlformats.org/officeDocument/2006/relationships" id="258" r:id="Rae4ba0ad704b4686"/>
    <p:sldId xmlns:r="http://schemas.openxmlformats.org/officeDocument/2006/relationships" id="259" r:id="Rae6b6777e64a4f4c"/>
    <p:sldId xmlns:r="http://schemas.openxmlformats.org/officeDocument/2006/relationships" id="260" r:id="R357618bc81fe4958"/>
    <p:sldId xmlns:r="http://schemas.openxmlformats.org/officeDocument/2006/relationships" id="261" r:id="R9cb0b6bbd5594780"/>
    <p:sldId xmlns:r="http://schemas.openxmlformats.org/officeDocument/2006/relationships" id="262" r:id="R63d7d8ebae8248f2"/>
    <p:sldId xmlns:r="http://schemas.openxmlformats.org/officeDocument/2006/relationships" id="263" r:id="R171eb2f4ca954523"/>
    <p:sldId xmlns:r="http://schemas.openxmlformats.org/officeDocument/2006/relationships" id="264" r:id="Rf67cdd4aa4984601"/>
    <p:sldId xmlns:r="http://schemas.openxmlformats.org/officeDocument/2006/relationships" id="265" r:id="R3dfe4634810044eb"/>
    <p:sldId xmlns:r="http://schemas.openxmlformats.org/officeDocument/2006/relationships" id="266" r:id="R8f7249f0fa9543e4"/>
    <p:sldId xmlns:r="http://schemas.openxmlformats.org/officeDocument/2006/relationships" id="267" r:id="Re21b64c055ab4acf"/>
    <p:sldId xmlns:r="http://schemas.openxmlformats.org/officeDocument/2006/relationships" id="268" r:id="Radf3fdc49d7b47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4b25aa02e742a4" /><Relationship Type="http://schemas.openxmlformats.org/officeDocument/2006/relationships/slideMaster" Target="/ppt/slideMasters/slideMaster1.xml" Id="R4e203cc79bfa4bb6" /><Relationship Type="http://schemas.openxmlformats.org/officeDocument/2006/relationships/notesMaster" Target="/ppt/notesMasters/notesMaster1.xml" Id="R88dfd7e4097949f8" /><Relationship Type="http://schemas.openxmlformats.org/officeDocument/2006/relationships/presProps" Target="/ppt/presProps.xml" Id="R85a52191a37c4534" /><Relationship Type="http://schemas.openxmlformats.org/officeDocument/2006/relationships/tableStyles" Target="/ppt/tableStyles.xml" Id="R34e3614014e743aa" /><Relationship Type="http://schemas.openxmlformats.org/officeDocument/2006/relationships/slide" Target="/ppt/slides/slide1.xml" Id="R5acf2260c3594ff2" /><Relationship Type="http://schemas.openxmlformats.org/officeDocument/2006/relationships/slide" Target="/ppt/slides/slide2.xml" Id="R9d6627d8f49d498e" /><Relationship Type="http://schemas.openxmlformats.org/officeDocument/2006/relationships/slide" Target="/ppt/slides/slide3.xml" Id="Rae4ba0ad704b4686" /><Relationship Type="http://schemas.openxmlformats.org/officeDocument/2006/relationships/slide" Target="/ppt/slides/slide4.xml" Id="Rae6b6777e64a4f4c" /><Relationship Type="http://schemas.openxmlformats.org/officeDocument/2006/relationships/slide" Target="/ppt/slides/slide5.xml" Id="R357618bc81fe4958" /><Relationship Type="http://schemas.openxmlformats.org/officeDocument/2006/relationships/slide" Target="/ppt/slides/slide6.xml" Id="R9cb0b6bbd5594780" /><Relationship Type="http://schemas.openxmlformats.org/officeDocument/2006/relationships/slide" Target="/ppt/slides/slide7.xml" Id="R63d7d8ebae8248f2" /><Relationship Type="http://schemas.openxmlformats.org/officeDocument/2006/relationships/slide" Target="/ppt/slides/slide8.xml" Id="R171eb2f4ca954523" /><Relationship Type="http://schemas.openxmlformats.org/officeDocument/2006/relationships/slide" Target="/ppt/slides/slide9.xml" Id="Rf67cdd4aa4984601" /><Relationship Type="http://schemas.openxmlformats.org/officeDocument/2006/relationships/slide" Target="/ppt/slides/slide10.xml" Id="R3dfe4634810044eb" /><Relationship Type="http://schemas.openxmlformats.org/officeDocument/2006/relationships/slide" Target="/ppt/slides/slide11.xml" Id="R8f7249f0fa9543e4" /><Relationship Type="http://schemas.openxmlformats.org/officeDocument/2006/relationships/slide" Target="/ppt/slides/slide12.xml" Id="Re21b64c055ab4acf" /><Relationship Type="http://schemas.openxmlformats.org/officeDocument/2006/relationships/slide" Target="/ppt/slides/slide13.xml" Id="Radf3fdc49d7b47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b859f1b6bd44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8099d49761497d" /><Relationship Type="http://schemas.openxmlformats.org/officeDocument/2006/relationships/notesMaster" Target="/ppt/notesMasters/notesMaster1.xml" Id="R11e850e3ffbc49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586919d92a42fa" /><Relationship Type="http://schemas.openxmlformats.org/officeDocument/2006/relationships/notesMaster" Target="/ppt/notesMasters/notesMaster1.xml" Id="Rc16f1ecfa90d49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b4901515734e20" /><Relationship Type="http://schemas.openxmlformats.org/officeDocument/2006/relationships/notesMaster" Target="/ppt/notesMasters/notesMaster1.xml" Id="R3163daa3247e4a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4dec4e1836424a" /><Relationship Type="http://schemas.openxmlformats.org/officeDocument/2006/relationships/notesMaster" Target="/ppt/notesMasters/notesMaster1.xml" Id="Rad8bde16749748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a12154dffd4ad2" /><Relationship Type="http://schemas.openxmlformats.org/officeDocument/2006/relationships/notesMaster" Target="/ppt/notesMasters/notesMaster1.xml" Id="R133b7ee5710d4e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ac7cadce9d4c78" /><Relationship Type="http://schemas.openxmlformats.org/officeDocument/2006/relationships/notesMaster" Target="/ppt/notesMasters/notesMaster1.xml" Id="R826b5a0bf29d40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068b50b08d446c" /><Relationship Type="http://schemas.openxmlformats.org/officeDocument/2006/relationships/notesMaster" Target="/ppt/notesMasters/notesMaster1.xml" Id="R3a4fd9f352e444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cd9311998344fe" /><Relationship Type="http://schemas.openxmlformats.org/officeDocument/2006/relationships/notesMaster" Target="/ppt/notesMasters/notesMaster1.xml" Id="R9f71b8c041a349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7dc036b5d64e30" /><Relationship Type="http://schemas.openxmlformats.org/officeDocument/2006/relationships/notesMaster" Target="/ppt/notesMasters/notesMaster1.xml" Id="Rc3f9963f40e641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3843f0b4594280" /><Relationship Type="http://schemas.openxmlformats.org/officeDocument/2006/relationships/notesMaster" Target="/ppt/notesMasters/notesMaster1.xml" Id="R83336077404149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d27d4897f34fe9" /><Relationship Type="http://schemas.openxmlformats.org/officeDocument/2006/relationships/notesMaster" Target="/ppt/notesMasters/notesMaster1.xml" Id="Rf0de8a90e49c4f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18ee3f945b4525" /><Relationship Type="http://schemas.openxmlformats.org/officeDocument/2006/relationships/notesMaster" Target="/ppt/notesMasters/notesMaster1.xml" Id="R2fcb2277d4ae46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05f23c162746ce" /><Relationship Type="http://schemas.openxmlformats.org/officeDocument/2006/relationships/notesMaster" Target="/ppt/notesMasters/notesMaster1.xml" Id="Re47f5ce487de4a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Let the title sit for a beat before speaking.</a:t>
            </a:r>
          </a:p>
          <a:p xmlns:a="http://schemas.openxmlformats.org/drawingml/2006/main">
            <a:r>
              <a:t/>
            </a:r>
          </a:p>
          <a:p xmlns:a="http://schemas.openxmlformats.org/drawingml/2006/main">
            <a:r>
              <a:t>Imagine you own an audio store. It’s eleven at night. You’ve closed the doors. But someone is still asking for a deal. The customer hasn’t visited your website. She’s sent her agent. Who answers for your store? That’s why we built Pact.</a:t>
            </a:r>
          </a:p>
          <a:p xmlns:a="http://schemas.openxmlformats.org/drawingml/2006/main">
            <a:r>
              <a:t/>
            </a:r>
          </a:p>
          <a:p xmlns:a="http://schemas.openxmlformats.org/drawingml/2006/main">
            <a:r>
              <a:t>Source: pact/README.md, pact/agents/zoowork_merchant.py. Original glass illustration generated for this presentation, not a manufacturer asset. Visual direction inspired by the restrained product focus of https://www.apple.com/apple-events/ and spatial topic navigation described at https://support.prezi.com/hc/en-us/articles/360003478254-Prezi-Present-FAQ.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to the white headphones. Introduce the shopper as an illustrative character.</a:t>
            </a:r>
          </a:p>
          <a:p xmlns:a="http://schemas.openxmlformats.org/drawingml/2006/main">
            <a:r>
              <a:t/>
            </a:r>
          </a:p>
          <a:p xmlns:a="http://schemas.openxmlformats.org/drawingml/2006/main">
            <a:r>
              <a:t>Let’s call our shopper Maya. She wants great headphones, and she has three hundred dollars. Her agent can search for a price. It can ask for better terms. But to reach a deal, it needs someone on the other side who can actually negotiate.</a:t>
            </a:r>
          </a:p>
          <a:p xmlns:a="http://schemas.openxmlformats.org/drawingml/2006/main">
            <a:r>
              <a:t/>
            </a:r>
          </a:p>
          <a:p xmlns:a="http://schemas.openxmlformats.org/drawingml/2006/main">
            <a:r>
              <a:t>Source: pact/README.md, pact/scenario.py. Headphone image is an original AI-generated illustration in pact/web/assets, not an official product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18%. Explain it in everyday language.</a:t>
            </a:r>
          </a:p>
          <a:p xmlns:a="http://schemas.openxmlformats.org/drawingml/2006/main">
            <a:r>
              <a:t/>
            </a:r>
          </a:p>
          <a:p xmlns:a="http://schemas.openxmlformats.org/drawingml/2006/main">
            <a:r>
              <a:t>On the other side is Sam, the owner of Aria Audio. Sam wants the sale. He also needs to protect his business. In our demo, he sets an eighteen percent minimum after product and deal costs. His merchant agent can negotiate within that rule. The private costs stay with the store.</a:t>
            </a:r>
          </a:p>
          <a:p xmlns:a="http://schemas.openxmlformats.org/drawingml/2006/main">
            <a:r>
              <a:t/>
            </a:r>
          </a:p>
          <a:p xmlns:a="http://schemas.openxmlformats.org/drawingml/2006/main">
            <a:r>
              <a:t>Source: pact/scenario.py MerchantState, pact/engine.py net_revenue and margin_pct, pact/agents/zoowork_merchant.py.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audience a moment to distinguish the two limits.</a:t>
            </a:r>
          </a:p>
          <a:p xmlns:a="http://schemas.openxmlformats.org/drawingml/2006/main">
            <a:r>
              <a:t/>
            </a:r>
          </a:p>
          <a:p xmlns:a="http://schemas.openxmlformats.org/drawingml/2006/main">
            <a:r>
              <a:t>Maya gives her agent two different instructions. Three hundred dollars is the most she’ll spend. Above two hundred and fifty, the agent has to ask her first. That difference matters. A deal can fit the budget and still need permission.</a:t>
            </a:r>
          </a:p>
          <a:p xmlns:a="http://schemas.openxmlformats.org/drawingml/2006/main">
            <a:r>
              <a:t/>
            </a:r>
          </a:p>
          <a:p xmlns:a="http://schemas.openxmlformats.org/drawingml/2006/main">
            <a:r>
              <a:t>Source: pact/scenario.py ShopperState and pact/web/index.html boundaryForm.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large price. Slow down for the terms.</a:t>
            </a:r>
          </a:p>
          <a:p xmlns:a="http://schemas.openxmlformats.org/drawingml/2006/main">
            <a:r>
              <a:t/>
            </a:r>
          </a:p>
          <a:p xmlns:a="http://schemas.openxmlformats.org/drawingml/2006/main">
            <a:r>
              <a:t>Now the agents work. Maya’s agent compares two merchants. Aria has more stock in silver, so its agent can offer a better deal on that color. In this preset, they settle on two hundred ninety-nine dollars and ninety-nine cents, next-day delivery, and forty-five-day returns. That’s thirty dollars below Aria’s list price.</a:t>
            </a:r>
          </a:p>
          <a:p xmlns:a="http://schemas.openxmlformats.org/drawingml/2006/main">
            <a:r>
              <a:t/>
            </a:r>
          </a:p>
          <a:p xmlns:a="http://schemas.openxmlformats.org/drawingml/2006/main">
            <a:r>
              <a:t>Source: pact/hunt.py fit and snapshot, pact/engine.py offer_fit, demo screenshot captured from the local fallback run on 2026-10-03.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briefly after the first sentence. This is the central reveal.</a:t>
            </a:r>
          </a:p>
          <a:p xmlns:a="http://schemas.openxmlformats.org/drawingml/2006/main">
            <a:r>
              <a:t/>
            </a:r>
          </a:p>
          <a:p xmlns:a="http://schemas.openxmlformats.org/drawingml/2006/main">
            <a:r>
              <a:t>They have an agreement. They don’t yet have permission to spend. Pact checks the merchant’s rules and Maya’s boundaries. The price fits her three-hundred-dollar budget, but it crosses her two-hundred-and-fifty-dollar approval limit. So Pact stops and asks her.</a:t>
            </a:r>
          </a:p>
          <a:p xmlns:a="http://schemas.openxmlformats.org/drawingml/2006/main">
            <a:r>
              <a:t/>
            </a:r>
          </a:p>
          <a:p xmlns:a="http://schemas.openxmlformats.org/drawingml/2006/main">
            <a:r>
              <a:t>Source: pact/gate.py local_decision and evaluate, pact/jev.py evaluate, actual demo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words You approve visible. Do not imply a real payment.</a:t>
            </a:r>
          </a:p>
          <a:p xmlns:a="http://schemas.openxmlformats.org/drawingml/2006/main">
            <a:r>
              <a:t/>
            </a:r>
          </a:p>
          <a:p xmlns:a="http://schemas.openxmlformats.org/drawingml/2006/main">
            <a:r>
              <a:t>Maya sees the terms. She can review the negotiation. When she approves, Pact can act. For this hackathon, checkout and inventory reservation are simulated. No real payment is taken. The thing we’re demonstrating is the control: the agent waits for the permission it needs.</a:t>
            </a:r>
          </a:p>
          <a:p xmlns:a="http://schemas.openxmlformats.org/drawingml/2006/main">
            <a:r>
              <a:t/>
            </a:r>
          </a:p>
          <a:p xmlns:a="http://schemas.openxmlformats.org/drawingml/2006/main">
            <a:r>
              <a:t>Source: pact/deal.py approve and execution, pact/web/index.html showDecision and showDone, actual demo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route. Save the animated replay for the live demo.</a:t>
            </a:r>
          </a:p>
          <a:p xmlns:a="http://schemas.openxmlformats.org/drawingml/2006/main">
            <a:r>
              <a:t/>
            </a:r>
          </a:p>
          <a:p xmlns:a="http://schemas.openxmlformats.org/drawingml/2006/main">
            <a:r>
              <a:t>The conversation continues after checkout. Delivery updates stay with the deal, and Maya can follow the journey. This map follows real San Francisco roads. The tracking events and courier are simulated, so the demo stays easy to present.</a:t>
            </a:r>
          </a:p>
          <a:p xmlns:a="http://schemas.openxmlformats.org/drawingml/2006/main">
            <a:r>
              <a:t/>
            </a:r>
          </a:p>
          <a:p xmlns:a="http://schemas.openxmlformats.org/drawingml/2006/main">
            <a:r>
              <a:t>Source: pact/deal.py tracking, pact/web/assets/delivery-map.js, pact/DEMO.md, actual demo screenshot. Map data © OpenStreetMap contributors, 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second act. Emphasize that store credit needs a new decision.</a:t>
            </a:r>
          </a:p>
          <a:p xmlns:a="http://schemas.openxmlformats.org/drawingml/2006/main">
            <a:r>
              <a:t/>
            </a:r>
          </a:p>
          <a:p xmlns:a="http://schemas.openxmlformats.org/drawingml/2006/main">
            <a:r>
              <a:t>Then Maya tries the headphones. They’re uncomfortable, and she asks for a refund. The agents negotiate again, in the same room. The demo proposes store credit with a thirty-dollar bonus. That changes what Maya receives, so Pact asks for her approval again.</a:t>
            </a:r>
          </a:p>
          <a:p xmlns:a="http://schemas.openxmlformats.org/drawingml/2006/main">
            <a:r>
              <a:t/>
            </a:r>
          </a:p>
          <a:p xmlns:a="http://schemas.openxmlformats.org/drawingml/2006/main">
            <a:r>
              <a:t>Source: pact/deal.py returns, pact/engine.py return logic, pact/jev.py return authority, pact/scenario.py max_goodwill and store_credit_min_bonus, actual demo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the focus to the merchant. Make the evidence limit explicit.</a:t>
            </a:r>
          </a:p>
          <a:p xmlns:a="http://schemas.openxmlformats.org/drawingml/2006/main">
            <a:r>
              <a:t/>
            </a:r>
          </a:p>
          <a:p xmlns:a="http://schemas.openxmlformats.org/drawingml/2006/main">
            <a:r>
              <a:t>For Sam, the goal is to convert a customer while protecting what the store keeps. Our illustrated deal leaves nineteen-point-seven percent after the model’s product and deal costs, above his eighteen-percent minimum. This is demo arithmetic. A merchant pilot still needs to prove the conversion benefit.</a:t>
            </a:r>
          </a:p>
          <a:p xmlns:a="http://schemas.openxmlformats.org/drawingml/2006/main">
            <a:r>
              <a:t/>
            </a:r>
          </a:p>
          <a:p xmlns:a="http://schemas.openxmlformats.org/drawingml/2006/main">
            <a:r>
              <a:t>Source: pact/scenario.py MerchantState, pact/engine.py net_revenue and margin_pct. Values correspond to the captured illustrative Aria deal.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services once, tied to what each does.</a:t>
            </a:r>
          </a:p>
          <a:p xmlns:a="http://schemas.openxmlformats.org/drawingml/2006/main">
            <a:r>
              <a:t/>
            </a:r>
          </a:p>
          <a:p xmlns:a="http://schemas.openxmlformats.org/drawingml/2006/main">
            <a:r>
              <a:t>ZooWork gives the merchant agent a runtime. BAND gives the agents their negotiation rooms. Jev checks authority. Tavily checks competitor prices, and Moss carries memory forward. The product shows which services are live and which use a fallback. The rules still apply when a service is unavailable.</a:t>
            </a:r>
          </a:p>
          <a:p xmlns:a="http://schemas.openxmlformats.org/drawingml/2006/main">
            <a:r>
              <a:t/>
            </a:r>
          </a:p>
          <a:p xmlns:a="http://schemas.openxmlformats.org/drawingml/2006/main">
            <a:r>
              <a:t>Source: pact/README.md integration table, pact/agents/zoowork_merchant.py, pact/agents/merchant_tools.py, pact/band.py, pact/gate.py, pact/jev.py, pact/tavily.py, pact/memory.py.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running product for the one-minute demo. If the app is unavailable, stay on the screenshot and walk through the same steps.</a:t>
            </a:r>
          </a:p>
          <a:p xmlns:a="http://schemas.openxmlformats.org/drawingml/2006/main">
            <a:r>
              <a:t/>
            </a:r>
          </a:p>
          <a:p xmlns:a="http://schemas.openxmlformats.org/drawingml/2006/main">
            <a:r>
              <a:t>Let’s watch Maya’s deal happen. Here is her three-hundred-dollar budget, and here is the ask-me limit. I’ll start the preset. The agents compare offers and negotiate the terms. Now the authority gate pauses for Maya. I’ll approve. The simulated order completes, and the delivery journey appears. One request became a deal, with the store’s rules and the shopper’s permission intact.</a:t>
            </a:r>
          </a:p>
          <a:p xmlns:a="http://schemas.openxmlformats.org/drawingml/2006/main">
            <a:r>
              <a:t/>
            </a:r>
          </a:p>
          <a:p xmlns:a="http://schemas.openxmlformats.org/drawingml/2006/main">
            <a:r>
              <a:t>Source: pact/DEMO.md and actual demo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glass artwork. Leave the closing on screen for questions.</a:t>
            </a:r>
          </a:p>
          <a:p xmlns:a="http://schemas.openxmlformats.org/drawingml/2006/main">
            <a:r>
              <a:t/>
            </a:r>
          </a:p>
          <a:p xmlns:a="http://schemas.openxmlformats.org/drawingml/2006/main">
            <a:r>
              <a:t>At the beginning, Sam’s store was closed and an agent was waiting for an answer. Now the store has a voice. Maya can approve a deal she understands. Sam can keep the rules that protect his business. That’s Pact. Your rules. Your agent. Your call.</a:t>
            </a:r>
          </a:p>
          <a:p xmlns:a="http://schemas.openxmlformats.org/drawingml/2006/main">
            <a:r>
              <a:t/>
            </a:r>
          </a:p>
          <a:p xmlns:a="http://schemas.openxmlformats.org/drawingml/2006/main">
            <a:r>
              <a:t>Source: pact/README.md and pact/DEMO.md. Original brand artwork. Visual direction references: https://www.apple.com/apple-events/ and https://support.prezi.com/hc/en-us/articles/360003478254-Prezi-Present-FAQ.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3fb759f6bc4e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603d0200c543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27ff1347aa44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e014975d5747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11a95f52b544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297258581144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B740D2-0F04-4CF5-8F28-19DC3FE3C7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B1BB16-AB8E-4644-959D-C952D260F9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4D4BF1-DA94-4F58-8F95-916E7510AF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620627-8DAE-4358-9B61-043875AD6C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04E62B-D88D-4184-B821-E195A57C6B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76813A-D5A0-4436-A03D-90369CEA5A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9098C6-E9C4-4AD1-ADDE-EC52541212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40D3D2-62B4-439A-8020-44A52EA5B3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95995C-22FA-408C-8AEC-E0E4BC3AD4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F0A9B2-EF77-4003-983B-CD9F9E6CBA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f664dc966c478b" /><Relationship Type="http://schemas.openxmlformats.org/officeDocument/2006/relationships/slideLayout" Target="/ppt/slideLayouts/slideLayout1.xml" Id="R2e686dcfc2914b2b" /><Relationship Type="http://schemas.openxmlformats.org/officeDocument/2006/relationships/slideLayout" Target="/ppt/slideLayouts/slideLayout2.xml" Id="R4f1b96bfde994da8" /><Relationship Type="http://schemas.openxmlformats.org/officeDocument/2006/relationships/slideLayout" Target="/ppt/slideLayouts/slideLayout3.xml" Id="Rc00a92f2bf4f4621" /><Relationship Type="http://schemas.openxmlformats.org/officeDocument/2006/relationships/slideLayout" Target="/ppt/slideLayouts/slideLayout4.xml" Id="R8420ce9a5833460e" /><Relationship Type="http://schemas.openxmlformats.org/officeDocument/2006/relationships/slideLayout" Target="/ppt/slideLayouts/slideLayout5.xml" Id="R069e7befc86f4653" /><Relationship Type="http://schemas.openxmlformats.org/officeDocument/2006/relationships/slideLayout" Target="/ppt/slideLayouts/slideLayout6.xml" Id="R4cb5d63874f04e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686dcfc2914b2b"/>
    <p:sldLayoutId xmlns:r="http://schemas.openxmlformats.org/officeDocument/2006/relationships" id="2147483650" r:id="R4f1b96bfde994da8"/>
    <p:sldLayoutId xmlns:r="http://schemas.openxmlformats.org/officeDocument/2006/relationships" id="2147483651" r:id="Rc00a92f2bf4f4621"/>
    <p:sldLayoutId xmlns:r="http://schemas.openxmlformats.org/officeDocument/2006/relationships" id="2147483652" r:id="R8420ce9a5833460e"/>
    <p:sldLayoutId xmlns:r="http://schemas.openxmlformats.org/officeDocument/2006/relationships" id="2147483653" r:id="R069e7befc86f4653"/>
    <p:sldLayoutId xmlns:r="http://schemas.openxmlformats.org/officeDocument/2006/relationships" id="2147483654" r:id="R4cb5d63874f04e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5c64e0366f449e" /><Relationship Type="http://schemas.openxmlformats.org/officeDocument/2006/relationships/image" Target="/ppt/media/image.png" Id="Rfd189ad5bf7a4160" /><Relationship Type="http://schemas.openxmlformats.org/officeDocument/2006/relationships/notesSlide" Target="/ppt/notesSlides/notesSlide1.xml" Id="R880904874fb34f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fd3326d5bea40e9" /><Relationship Type="http://schemas.openxmlformats.org/officeDocument/2006/relationships/image" Target="/ppt/media/image2.png" Id="R6be234a8830b4d42" /><Relationship Type="http://schemas.openxmlformats.org/officeDocument/2006/relationships/notesSlide" Target="/ppt/notesSlides/notesSlide2.xml" Id="R0baa4ee37bc145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3032b155b6b4732" /><Relationship Type="http://schemas.openxmlformats.org/officeDocument/2006/relationships/notesSlide" Target="/ppt/notesSlides/notesSlide3.xml" Id="R8453b295f71d4f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59a6c7cf814678" /><Relationship Type="http://schemas.openxmlformats.org/officeDocument/2006/relationships/image" Target="/ppt/media/image3.png" Id="R4670791ad14245ea" /><Relationship Type="http://schemas.openxmlformats.org/officeDocument/2006/relationships/notesSlide" Target="/ppt/notesSlides/notesSlide4.xml" Id="R74c0edb86b854b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3d889ecd87415c" /><Relationship Type="http://schemas.openxmlformats.org/officeDocument/2006/relationships/notesSlide" Target="/ppt/notesSlides/notesSlide5.xml" Id="R9236ba7a84cf40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4d9f97f7174769" /><Relationship Type="http://schemas.openxmlformats.org/officeDocument/2006/relationships/image" Target="/ppt/media/image.jpeg" Id="R19ab25ac12e44cd9" /><Relationship Type="http://schemas.openxmlformats.org/officeDocument/2006/relationships/notesSlide" Target="/ppt/notesSlides/notesSlide6.xml" Id="R934f6507f8af40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55581efeef4d12" /><Relationship Type="http://schemas.openxmlformats.org/officeDocument/2006/relationships/notesSlide" Target="/ppt/notesSlides/notesSlide7.xml" Id="R0e100e6bfa9641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63c98ef6ab4f86" /><Relationship Type="http://schemas.openxmlformats.org/officeDocument/2006/relationships/image" Target="/ppt/media/image2.jpeg" Id="Rb7fd649c427d4dc1" /><Relationship Type="http://schemas.openxmlformats.org/officeDocument/2006/relationships/notesSlide" Target="/ppt/notesSlides/notesSlide8.xml" Id="Re6c8a5ed119e4a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c117c044f84bb1" /><Relationship Type="http://schemas.openxmlformats.org/officeDocument/2006/relationships/image" Target="/ppt/media/image3.jpeg" Id="Re1a0f0113eba4dc5" /><Relationship Type="http://schemas.openxmlformats.org/officeDocument/2006/relationships/notesSlide" Target="/ppt/notesSlides/notesSlide9.xml" Id="Rca78eebaf33643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f1d20cb451f4218" /><Relationship Type="http://schemas.openxmlformats.org/officeDocument/2006/relationships/notesSlide" Target="/ppt/notesSlides/notesSlide10.xml" Id="R9bc85ec7a57b44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084fae218349ff" /><Relationship Type="http://schemas.openxmlformats.org/officeDocument/2006/relationships/notesSlide" Target="/ppt/notesSlides/notesSlide11.xml" Id="Rfe54a9936f5741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a5c59a3730f4a2f" /><Relationship Type="http://schemas.openxmlformats.org/officeDocument/2006/relationships/image" Target="/ppt/media/image4.jpeg" Id="R34800c9aa56e4a89" /><Relationship Type="http://schemas.openxmlformats.org/officeDocument/2006/relationships/hyperlink" Target="http://127.0.0.1:8017/#workspace" TargetMode="External" Id="Rf1e70bc126604ac2" /><Relationship Type="http://schemas.openxmlformats.org/officeDocument/2006/relationships/notesSlide" Target="/ppt/notesSlides/notesSlide12.xml" Id="R9c025520a61642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114db8760c4f01" /><Relationship Type="http://schemas.openxmlformats.org/officeDocument/2006/relationships/image" Target="/ppt/media/image4.png" Id="Rcc88f95693974095" /><Relationship Type="http://schemas.openxmlformats.org/officeDocument/2006/relationships/notesSlide" Target="/ppt/notesSlides/notesSlide13.xml" Id="Re88387b32a9c4759" /></Relationships>
</file>

<file path=ppt/slides/slide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pic>
        <p:nvPicPr>
          <p:cNvPr id="4" name="!!PactGlass">
            <a:extLst xmlns:a="http://schemas.openxmlformats.org/drawingml/2006/main">
              <a:ext uri="{FF2B5EF4-FFF2-40B4-BE49-F238E27FC236}">
                <a16:creationId xmlns:a16="http://schemas.microsoft.com/office/drawing/2014/main" id="{64CE5E07-07F5-4776-9DED-E2A969D257BA}"/>
              </a:ext>
            </a:extLst>
          </p:cNvPr>
          <p:cNvPicPr>
            <a:picLocks xmlns:a="http://schemas.openxmlformats.org/drawingml/2006/main" noChangeAspect="1"/>
          </p:cNvPicPr>
          <p:nvPr/>
        </p:nvPicPr>
        <p:blipFill>
          <a:blip xmlns:r="http://schemas.openxmlformats.org/officeDocument/2006/relationships" xmlns:a="http://schemas.openxmlformats.org/drawingml/2006/main" r:embed="Rfd189ad5bf7a416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PactTitle">
            <a:extLst xmlns:a="http://schemas.openxmlformats.org/drawingml/2006/main">
              <a:ext uri="{FF2B5EF4-FFF2-40B4-BE49-F238E27FC236}">
                <a16:creationId xmlns:a16="http://schemas.microsoft.com/office/drawing/2014/main" id="{50CC5D12-7F74-4D6C-B611-B39DF3B94F86}"/>
              </a:ext>
            </a:extLst>
          </p:cNvPr>
          <p:cNvSpPr>
            <a:spLocks xmlns:a="http://schemas.openxmlformats.org/drawingml/2006/main" noGrp="1"/>
          </p:cNvSpPr>
          <p:nvPr/>
        </p:nvSpPr>
        <p:spPr>
          <a:xfrm xmlns:a="http://schemas.openxmlformats.org/drawingml/2006/main">
            <a:off x="723900" y="1981200"/>
            <a:ext cx="51435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1850" b="1">
                <a:solidFill>
                  <a:srgbClr val="17202A"/>
                </a:solidFill>
                <a:latin typeface="Helvetica Neue"/>
                <a:ea typeface="Helvetica Neue"/>
                <a:cs typeface="Helvetica Neue"/>
              </a:defRPr>
            </a:defPPr>
          </a:lstStyle>
          <a:p xmlns:a="http://schemas.openxmlformats.org/drawingml/2006/main">
            <a:pPr algn="l">
              <a:defRPr sz="11850" b="1">
                <a:solidFill>
                  <a:srgbClr val="17202A"/>
                </a:solidFill>
                <a:latin typeface="Helvetica Neue"/>
                <a:ea typeface="Helvetica Neue"/>
                <a:cs typeface="Helvetica Neue"/>
              </a:defRPr>
            </a:pPr>
            <a:r>
              <a:rPr sz="11850" b="1">
                <a:solidFill>
                  <a:srgbClr val="17202A"/>
                </a:solidFill>
                <a:latin typeface="Helvetica Neue"/>
                <a:ea typeface="Helvetica Neue"/>
                <a:cs typeface="Helvetica Neue"/>
              </a:rPr>
              <a:t>Pact</a:t>
            </a:r>
          </a:p>
        </p:txBody>
      </p:sp>
      <p:sp>
        <p:nvSpPr>
          <p:cNvPr id="3" name="scene-1-item-2">
            <a:extLst xmlns:a="http://schemas.openxmlformats.org/drawingml/2006/main">
              <a:ext uri="{FF2B5EF4-FFF2-40B4-BE49-F238E27FC236}">
                <a16:creationId xmlns:a16="http://schemas.microsoft.com/office/drawing/2014/main" id="{C44451C3-38A8-42F4-8211-B578CC1CE6B2}"/>
              </a:ext>
            </a:extLst>
          </p:cNvPr>
          <p:cNvSpPr>
            <a:spLocks xmlns:a="http://schemas.openxmlformats.org/drawingml/2006/main" noGrp="1"/>
          </p:cNvSpPr>
          <p:nvPr/>
        </p:nvSpPr>
        <p:spPr>
          <a:xfrm xmlns:a="http://schemas.openxmlformats.org/drawingml/2006/main">
            <a:off x="800100" y="39719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17202A"/>
                </a:solidFill>
                <a:latin typeface="Helvetica Neue"/>
                <a:ea typeface="Helvetica Neue"/>
                <a:cs typeface="Helvetica Neue"/>
              </a:defRPr>
            </a:defPPr>
          </a:lstStyle>
          <a:p xmlns:a="http://schemas.openxmlformats.org/drawingml/2006/main">
            <a:pPr algn="l">
              <a:defRPr sz="3000" b="0">
                <a:solidFill>
                  <a:srgbClr val="17202A"/>
                </a:solidFill>
                <a:latin typeface="Helvetica Neue"/>
                <a:ea typeface="Helvetica Neue"/>
                <a:cs typeface="Helvetica Neue"/>
              </a:defRPr>
            </a:pPr>
            <a:r>
              <a:rPr sz="3000" b="0">
                <a:solidFill>
                  <a:srgbClr val="17202A"/>
                </a:solidFill>
                <a:latin typeface="Helvetica Neue"/>
                <a:ea typeface="Helvetica Neue"/>
                <a:cs typeface="Helvetica Neue"/>
              </a:rPr>
              <a:t>The merchant’s agent</a:t>
            </a:r>
          </a:p>
          <a:p xmlns:a="http://schemas.openxmlformats.org/drawingml/2006/main">
            <a:pPr algn="l">
              <a:defRPr sz="3000" b="0">
                <a:solidFill>
                  <a:srgbClr val="17202A"/>
                </a:solidFill>
                <a:latin typeface="Helvetica Neue"/>
                <a:ea typeface="Helvetica Neue"/>
                <a:cs typeface="Helvetica Neue"/>
              </a:defRPr>
            </a:pPr>
            <a:r>
              <a:rPr sz="3000" b="0">
                <a:solidFill>
                  <a:srgbClr val="17202A"/>
                </a:solidFill>
                <a:latin typeface="Helvetica Neue"/>
                <a:ea typeface="Helvetica Neue"/>
                <a:cs typeface="Helvetica Neue"/>
              </a:rPr>
              <a:t>for every deal</a:t>
            </a:r>
          </a:p>
        </p:txBody>
      </p:sp>
    </p:spTree>
    <p:extLst>
      <p:ext uri="{BB962C8B-B14F-4D97-AF65-F5344CB8AC3E}">
        <p14:creationId xmlns:p14="http://schemas.microsoft.com/office/powerpoint/2010/main" val="177559605"/>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 name="!!Heading">
            <a:extLst xmlns:a="http://schemas.openxmlformats.org/drawingml/2006/main">
              <a:ext uri="{FF2B5EF4-FFF2-40B4-BE49-F238E27FC236}">
                <a16:creationId xmlns:a16="http://schemas.microsoft.com/office/drawing/2014/main" id="{D39E1D1D-B105-42E5-9EB9-4DB1819FE09D}"/>
              </a:ext>
            </a:extLst>
          </p:cNvPr>
          <p:cNvSpPr>
            <a:spLocks xmlns:a="http://schemas.openxmlformats.org/drawingml/2006/main" noGrp="1"/>
          </p:cNvSpPr>
          <p:nvPr/>
        </p:nvSpPr>
        <p:spPr>
          <a:xfrm xmlns:a="http://schemas.openxmlformats.org/drawingml/2006/main">
            <a:off x="742950" y="1123950"/>
            <a:ext cx="72866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225" b="1">
                <a:solidFill>
                  <a:srgbClr val="17202A"/>
                </a:solidFill>
                <a:latin typeface="Helvetica Neue"/>
                <a:ea typeface="Helvetica Neue"/>
                <a:cs typeface="Helvetica Neue"/>
              </a:defRPr>
            </a:defPPr>
          </a:lstStyle>
          <a:p xmlns:a="http://schemas.openxmlformats.org/drawingml/2006/main">
            <a:pPr algn="l">
              <a:defRPr sz="6225" b="1">
                <a:solidFill>
                  <a:srgbClr val="17202A"/>
                </a:solidFill>
                <a:latin typeface="Helvetica Neue"/>
                <a:ea typeface="Helvetica Neue"/>
                <a:cs typeface="Helvetica Neue"/>
              </a:defRPr>
            </a:pPr>
            <a:r>
              <a:rPr sz="6225" b="1">
                <a:solidFill>
                  <a:srgbClr val="17202A"/>
                </a:solidFill>
                <a:latin typeface="Helvetica Neue"/>
                <a:ea typeface="Helvetica Neue"/>
                <a:cs typeface="Helvetica Neue"/>
              </a:rPr>
              <a:t>Shopper agents</a:t>
            </a:r>
          </a:p>
          <a:p xmlns:a="http://schemas.openxmlformats.org/drawingml/2006/main">
            <a:pPr algn="l">
              <a:defRPr sz="6225" b="1">
                <a:solidFill>
                  <a:srgbClr val="17202A"/>
                </a:solidFill>
                <a:latin typeface="Helvetica Neue"/>
                <a:ea typeface="Helvetica Neue"/>
                <a:cs typeface="Helvetica Neue"/>
              </a:defRPr>
            </a:pPr>
            <a:r>
              <a:rPr sz="6225" b="1">
                <a:solidFill>
                  <a:srgbClr val="17202A"/>
                </a:solidFill>
                <a:latin typeface="Helvetica Neue"/>
                <a:ea typeface="Helvetica Neue"/>
                <a:cs typeface="Helvetica Neue"/>
              </a:rPr>
              <a:t>are arriving</a:t>
            </a:r>
          </a:p>
        </p:txBody>
      </p:sp>
      <p:sp>
        <p:nvSpPr>
          <p:cNvPr id="2" name="scene-2-item-1">
            <a:extLst xmlns:a="http://schemas.openxmlformats.org/drawingml/2006/main">
              <a:ext uri="{FF2B5EF4-FFF2-40B4-BE49-F238E27FC236}">
                <a16:creationId xmlns:a16="http://schemas.microsoft.com/office/drawing/2014/main" id="{2E63690E-47DF-49CA-8835-59D93BF5A724}"/>
              </a:ext>
            </a:extLst>
          </p:cNvPr>
          <p:cNvSpPr>
            <a:spLocks xmlns:a="http://schemas.openxmlformats.org/drawingml/2006/main" noGrp="1"/>
          </p:cNvSpPr>
          <p:nvPr/>
        </p:nvSpPr>
        <p:spPr>
          <a:xfrm xmlns:a="http://schemas.openxmlformats.org/drawingml/2006/main">
            <a:off x="781050" y="3743325"/>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697179"/>
                </a:solidFill>
                <a:latin typeface="Helvetica Neue"/>
                <a:ea typeface="Helvetica Neue"/>
                <a:cs typeface="Helvetica Neue"/>
              </a:defRPr>
            </a:defPPr>
          </a:lstStyle>
          <a:p xmlns:a="http://schemas.openxmlformats.org/drawingml/2006/main">
            <a:pPr algn="l">
              <a:defRPr sz="3225" b="0">
                <a:solidFill>
                  <a:srgbClr val="697179"/>
                </a:solidFill>
                <a:latin typeface="Helvetica Neue"/>
                <a:ea typeface="Helvetica Neue"/>
                <a:cs typeface="Helvetica Neue"/>
              </a:defRPr>
            </a:pPr>
            <a:r>
              <a:rPr sz="3225" b="0">
                <a:solidFill>
                  <a:srgbClr val="697179"/>
                </a:solidFill>
                <a:latin typeface="Helvetica Neue"/>
                <a:ea typeface="Helvetica Neue"/>
                <a:cs typeface="Helvetica Neue"/>
              </a:rPr>
              <a:t>Who speaks for the store?</a:t>
            </a:r>
          </a:p>
        </p:txBody>
      </p:sp>
      <p:pic>
        <p:nvPicPr>
          <p:cNvPr id="3" name="!!WhiteHeadphones">
            <a:extLst xmlns:a="http://schemas.openxmlformats.org/drawingml/2006/main">
              <a:ext uri="{FF2B5EF4-FFF2-40B4-BE49-F238E27FC236}">
                <a16:creationId xmlns:a16="http://schemas.microsoft.com/office/drawing/2014/main" id="{07F7F686-2D13-4E14-BC54-38B4B77FA9A7}"/>
              </a:ext>
            </a:extLst>
          </p:cNvPr>
          <p:cNvPicPr>
            <a:picLocks xmlns:a="http://schemas.openxmlformats.org/drawingml/2006/main" noChangeAspect="1"/>
          </p:cNvPicPr>
          <p:nvPr/>
        </p:nvPicPr>
        <p:blipFill>
          <a:blip xmlns:r="http://schemas.openxmlformats.org/officeDocument/2006/relationships" xmlns:a="http://schemas.openxmlformats.org/drawingml/2006/main" r:embed="R6be234a8830b4d42"/>
          <a:stretch xmlns:a="http://schemas.openxmlformats.org/drawingml/2006/main"/>
        </p:blipFill>
        <p:spPr>
          <a:xfrm xmlns:a="http://schemas.openxmlformats.org/drawingml/2006/main">
            <a:off x="7762875" y="1190625"/>
            <a:ext cx="3810000" cy="3810000"/>
          </a:xfrm>
          <a:prstGeom xmlns:a="http://schemas.openxmlformats.org/drawingml/2006/main" prst="rect">
            <a:avLst/>
          </a:prstGeom>
        </p:spPr>
      </p:pic>
    </p:spTree>
    <p:extLst>
      <p:ext uri="{BB962C8B-B14F-4D97-AF65-F5344CB8AC3E}">
        <p14:creationId xmlns:p14="http://schemas.microsoft.com/office/powerpoint/2010/main" val="760835643"/>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657A3AC6-FE52-4F48-AB5B-685BE9151EA9}"/>
              </a:ext>
            </a:extLst>
          </p:cNvPr>
          <p:cNvSpPr>
            <a:spLocks xmlns:a="http://schemas.openxmlformats.org/drawingml/2006/main" noGrp="1"/>
          </p:cNvSpPr>
          <p:nvPr/>
        </p:nvSpPr>
        <p:spPr>
          <a:xfrm xmlns:a="http://schemas.openxmlformats.org/drawingml/2006/main">
            <a:off x="742950" y="914400"/>
            <a:ext cx="676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17202A"/>
                </a:solidFill>
                <a:latin typeface="Helvetica Neue"/>
                <a:ea typeface="Helvetica Neue"/>
                <a:cs typeface="Helvetica Neue"/>
              </a:defRPr>
            </a:defPPr>
          </a:lstStyle>
          <a:p xmlns:a="http://schemas.openxmlformats.org/drawingml/2006/main">
            <a:pPr algn="l">
              <a:defRPr sz="6000" b="1">
                <a:solidFill>
                  <a:srgbClr val="17202A"/>
                </a:solidFill>
                <a:latin typeface="Helvetica Neue"/>
                <a:ea typeface="Helvetica Neue"/>
                <a:cs typeface="Helvetica Neue"/>
              </a:defRPr>
            </a:pPr>
            <a:r>
              <a:rPr sz="6000" b="1">
                <a:solidFill>
                  <a:srgbClr val="17202A"/>
                </a:solidFill>
                <a:latin typeface="Helvetica Neue"/>
                <a:ea typeface="Helvetica Neue"/>
                <a:cs typeface="Helvetica Neue"/>
              </a:rPr>
              <a:t>Your store</a:t>
            </a:r>
          </a:p>
          <a:p xmlns:a="http://schemas.openxmlformats.org/drawingml/2006/main">
            <a:pPr algn="l">
              <a:defRPr sz="6000" b="1">
                <a:solidFill>
                  <a:srgbClr val="17202A"/>
                </a:solidFill>
                <a:latin typeface="Helvetica Neue"/>
                <a:ea typeface="Helvetica Neue"/>
                <a:cs typeface="Helvetica Neue"/>
              </a:defRPr>
            </a:pPr>
            <a:r>
              <a:rPr sz="6000" b="1">
                <a:solidFill>
                  <a:srgbClr val="17202A"/>
                </a:solidFill>
                <a:latin typeface="Helvetica Neue"/>
                <a:ea typeface="Helvetica Neue"/>
                <a:cs typeface="Helvetica Neue"/>
              </a:rPr>
              <a:t>has a voice</a:t>
            </a:r>
          </a:p>
        </p:txBody>
      </p:sp>
      <p:sp>
        <p:nvSpPr>
          <p:cNvPr id="2" name="scene-3-item-1">
            <a:extLst xmlns:a="http://schemas.openxmlformats.org/drawingml/2006/main">
              <a:ext uri="{FF2B5EF4-FFF2-40B4-BE49-F238E27FC236}">
                <a16:creationId xmlns:a16="http://schemas.microsoft.com/office/drawing/2014/main" id="{C65E01A4-E6EE-4145-B110-EDCE5AF0B845}"/>
              </a:ext>
            </a:extLst>
          </p:cNvPr>
          <p:cNvSpPr>
            <a:spLocks xmlns:a="http://schemas.openxmlformats.org/drawingml/2006/main" noGrp="1"/>
          </p:cNvSpPr>
          <p:nvPr/>
        </p:nvSpPr>
        <p:spPr>
          <a:xfrm xmlns:a="http://schemas.openxmlformats.org/drawingml/2006/main">
            <a:off x="781050" y="31242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A76728"/>
                </a:solidFill>
                <a:latin typeface="Helvetica Neue"/>
                <a:ea typeface="Helvetica Neue"/>
                <a:cs typeface="Helvetica Neue"/>
              </a:defRPr>
            </a:defPPr>
          </a:lstStyle>
          <a:p xmlns:a="http://schemas.openxmlformats.org/drawingml/2006/main">
            <a:pPr algn="l">
              <a:defRPr sz="2850" b="1">
                <a:solidFill>
                  <a:srgbClr val="A76728"/>
                </a:solidFill>
                <a:latin typeface="Helvetica Neue"/>
                <a:ea typeface="Helvetica Neue"/>
                <a:cs typeface="Helvetica Neue"/>
              </a:defRPr>
            </a:pPr>
            <a:r>
              <a:rPr sz="2850" b="1">
                <a:solidFill>
                  <a:srgbClr val="A76728"/>
                </a:solidFill>
                <a:latin typeface="Helvetica Neue"/>
                <a:ea typeface="Helvetica Neue"/>
                <a:cs typeface="Helvetica Neue"/>
              </a:rPr>
              <a:t>Merchant Agent</a:t>
            </a:r>
          </a:p>
        </p:txBody>
      </p:sp>
      <p:sp>
        <p:nvSpPr>
          <p:cNvPr id="3" name="scene-3-item-2">
            <a:extLst xmlns:a="http://schemas.openxmlformats.org/drawingml/2006/main">
              <a:ext uri="{FF2B5EF4-FFF2-40B4-BE49-F238E27FC236}">
                <a16:creationId xmlns:a16="http://schemas.microsoft.com/office/drawing/2014/main" id="{A98AC76E-2E6F-4FAB-863F-9E9C68F10D55}"/>
              </a:ext>
            </a:extLst>
          </p:cNvPr>
          <p:cNvSpPr>
            <a:spLocks xmlns:a="http://schemas.openxmlformats.org/drawingml/2006/main" noGrp="1"/>
          </p:cNvSpPr>
          <p:nvPr/>
        </p:nvSpPr>
        <p:spPr>
          <a:xfrm xmlns:a="http://schemas.openxmlformats.org/drawingml/2006/main">
            <a:off x="781050" y="3819525"/>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697179"/>
                </a:solidFill>
                <a:latin typeface="Helvetica Neue"/>
                <a:ea typeface="Helvetica Neue"/>
                <a:cs typeface="Helvetica Neue"/>
              </a:defRPr>
            </a:defPPr>
          </a:lstStyle>
          <a:p xmlns:a="http://schemas.openxmlformats.org/drawingml/2006/main">
            <a:pPr algn="l">
              <a:defRPr sz="2250" b="0">
                <a:solidFill>
                  <a:srgbClr val="697179"/>
                </a:solidFill>
                <a:latin typeface="Helvetica Neue"/>
                <a:ea typeface="Helvetica Neue"/>
                <a:cs typeface="Helvetica Neue"/>
              </a:defRPr>
            </a:pPr>
            <a:r>
              <a:rPr sz="2250" b="0">
                <a:solidFill>
                  <a:srgbClr val="697179"/>
                </a:solidFill>
                <a:latin typeface="Helvetica Neue"/>
                <a:ea typeface="Helvetica Neue"/>
                <a:cs typeface="Helvetica Neue"/>
              </a:rPr>
              <a:t>Negotiates inside the rules you set</a:t>
            </a:r>
          </a:p>
        </p:txBody>
      </p:sp>
      <p:sp>
        <p:nvSpPr>
          <p:cNvPr id="4" name="!!ProfitFloor">
            <a:extLst xmlns:a="http://schemas.openxmlformats.org/drawingml/2006/main">
              <a:ext uri="{FF2B5EF4-FFF2-40B4-BE49-F238E27FC236}">
                <a16:creationId xmlns:a16="http://schemas.microsoft.com/office/drawing/2014/main" id="{AA24828B-81E1-40DB-B1B7-E827CD9914B1}"/>
              </a:ext>
            </a:extLst>
          </p:cNvPr>
          <p:cNvSpPr>
            <a:spLocks xmlns:a="http://schemas.openxmlformats.org/drawingml/2006/main" noGrp="1"/>
          </p:cNvSpPr>
          <p:nvPr/>
        </p:nvSpPr>
        <p:spPr>
          <a:xfrm xmlns:a="http://schemas.openxmlformats.org/drawingml/2006/main">
            <a:off x="7915275" y="2657475"/>
            <a:ext cx="3524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550" b="1">
                <a:solidFill>
                  <a:srgbClr val="A76728"/>
                </a:solidFill>
                <a:latin typeface="Helvetica Neue"/>
                <a:ea typeface="Helvetica Neue"/>
                <a:cs typeface="Helvetica Neue"/>
              </a:defRPr>
            </a:defPPr>
          </a:lstStyle>
          <a:p xmlns:a="http://schemas.openxmlformats.org/drawingml/2006/main">
            <a:pPr algn="l">
              <a:defRPr sz="8550" b="1">
                <a:solidFill>
                  <a:srgbClr val="A76728"/>
                </a:solidFill>
                <a:latin typeface="Helvetica Neue"/>
                <a:ea typeface="Helvetica Neue"/>
                <a:cs typeface="Helvetica Neue"/>
              </a:defRPr>
            </a:pPr>
            <a:r>
              <a:rPr sz="8550" b="1">
                <a:solidFill>
                  <a:srgbClr val="A76728"/>
                </a:solidFill>
                <a:latin typeface="Helvetica Neue"/>
                <a:ea typeface="Helvetica Neue"/>
                <a:cs typeface="Helvetica Neue"/>
              </a:rPr>
              <a:t>18%</a:t>
            </a:r>
          </a:p>
        </p:txBody>
      </p:sp>
      <p:sp>
        <p:nvSpPr>
          <p:cNvPr id="5" name="scene-3-item-4">
            <a:extLst xmlns:a="http://schemas.openxmlformats.org/drawingml/2006/main">
              <a:ext uri="{FF2B5EF4-FFF2-40B4-BE49-F238E27FC236}">
                <a16:creationId xmlns:a16="http://schemas.microsoft.com/office/drawing/2014/main" id="{2B87A99D-1F14-4954-B248-05F6F5EE50E2}"/>
              </a:ext>
            </a:extLst>
          </p:cNvPr>
          <p:cNvSpPr>
            <a:spLocks xmlns:a="http://schemas.openxmlformats.org/drawingml/2006/main" noGrp="1"/>
          </p:cNvSpPr>
          <p:nvPr/>
        </p:nvSpPr>
        <p:spPr>
          <a:xfrm xmlns:a="http://schemas.openxmlformats.org/drawingml/2006/main">
            <a:off x="7953375" y="420052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17202A"/>
                </a:solidFill>
                <a:latin typeface="Helvetica Neue"/>
                <a:ea typeface="Helvetica Neue"/>
                <a:cs typeface="Helvetica Neue"/>
              </a:defRPr>
            </a:defPPr>
          </a:lstStyle>
          <a:p xmlns:a="http://schemas.openxmlformats.org/drawingml/2006/main">
            <a:pPr algn="l">
              <a:defRPr sz="2175" b="0">
                <a:solidFill>
                  <a:srgbClr val="17202A"/>
                </a:solidFill>
                <a:latin typeface="Helvetica Neue"/>
                <a:ea typeface="Helvetica Neue"/>
                <a:cs typeface="Helvetica Neue"/>
              </a:defRPr>
            </a:pPr>
            <a:r>
              <a:rPr sz="2175" b="0">
                <a:solidFill>
                  <a:srgbClr val="17202A"/>
                </a:solidFill>
                <a:latin typeface="Helvetica Neue"/>
                <a:ea typeface="Helvetica Neue"/>
                <a:cs typeface="Helvetica Neue"/>
              </a:rPr>
              <a:t>minimum profit</a:t>
            </a:r>
          </a:p>
        </p:txBody>
      </p:sp>
      <p:sp>
        <p:nvSpPr>
          <p:cNvPr id="6" name="scene-3-item-5">
            <a:extLst xmlns:a="http://schemas.openxmlformats.org/drawingml/2006/main">
              <a:ext uri="{FF2B5EF4-FFF2-40B4-BE49-F238E27FC236}">
                <a16:creationId xmlns:a16="http://schemas.microsoft.com/office/drawing/2014/main" id="{7D748705-C292-404E-83CA-CB9EFD1EA801}"/>
              </a:ext>
            </a:extLst>
          </p:cNvPr>
          <p:cNvSpPr>
            <a:spLocks xmlns:a="http://schemas.openxmlformats.org/drawingml/2006/main" noGrp="1"/>
          </p:cNvSpPr>
          <p:nvPr/>
        </p:nvSpPr>
        <p:spPr>
          <a:xfrm xmlns:a="http://schemas.openxmlformats.org/drawingml/2006/main">
            <a:off x="742950" y="61912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97179"/>
                </a:solidFill>
                <a:latin typeface="Helvetica Neue"/>
                <a:ea typeface="Helvetica Neue"/>
                <a:cs typeface="Helvetica Neue"/>
              </a:defRPr>
            </a:defPPr>
          </a:lstStyle>
          <a:p xmlns:a="http://schemas.openxmlformats.org/drawingml/2006/main">
            <a:pPr algn="l">
              <a:defRPr sz="1500" b="0">
                <a:solidFill>
                  <a:srgbClr val="697179"/>
                </a:solidFill>
                <a:latin typeface="Helvetica Neue"/>
                <a:ea typeface="Helvetica Neue"/>
                <a:cs typeface="Helvetica Neue"/>
              </a:defRPr>
            </a:pPr>
            <a:r>
              <a:rPr sz="1500" b="0">
                <a:solidFill>
                  <a:srgbClr val="697179"/>
                </a:solidFill>
                <a:latin typeface="Helvetica Neue"/>
                <a:ea typeface="Helvetica Neue"/>
                <a:cs typeface="Helvetica Neue"/>
              </a:rPr>
              <a:t>Aria Audio demo policy. Private product and deal costs stay with the merchant.</a:t>
            </a:r>
          </a:p>
        </p:txBody>
      </p:sp>
    </p:spTree>
    <p:extLst>
      <p:ext uri="{BB962C8B-B14F-4D97-AF65-F5344CB8AC3E}">
        <p14:creationId xmlns:p14="http://schemas.microsoft.com/office/powerpoint/2010/main" val="304132203"/>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EFCCE80C-255B-4FF4-85EA-6559963C1B0E}"/>
              </a:ext>
            </a:extLst>
          </p:cNvPr>
          <p:cNvSpPr>
            <a:spLocks xmlns:a="http://schemas.openxmlformats.org/drawingml/2006/main" noGrp="1"/>
          </p:cNvSpPr>
          <p:nvPr/>
        </p:nvSpPr>
        <p:spPr>
          <a:xfrm xmlns:a="http://schemas.openxmlformats.org/drawingml/2006/main">
            <a:off x="742950" y="1066800"/>
            <a:ext cx="75247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925" b="1">
                <a:solidFill>
                  <a:srgbClr val="3669AE"/>
                </a:solidFill>
                <a:latin typeface="Helvetica Neue"/>
                <a:ea typeface="Helvetica Neue"/>
                <a:cs typeface="Helvetica Neue"/>
              </a:defRPr>
            </a:defPPr>
          </a:lstStyle>
          <a:p xmlns:a="http://schemas.openxmlformats.org/drawingml/2006/main">
            <a:pPr algn="l">
              <a:defRPr sz="5925" b="1">
                <a:solidFill>
                  <a:srgbClr val="3669AE"/>
                </a:solidFill>
                <a:latin typeface="Helvetica Neue"/>
                <a:ea typeface="Helvetica Neue"/>
                <a:cs typeface="Helvetica Neue"/>
              </a:defRPr>
            </a:pPr>
            <a:r>
              <a:rPr sz="5925" b="1">
                <a:solidFill>
                  <a:srgbClr val="3669AE"/>
                </a:solidFill>
                <a:latin typeface="Helvetica Neue"/>
                <a:ea typeface="Helvetica Neue"/>
                <a:cs typeface="Helvetica Neue"/>
              </a:rPr>
              <a:t>“Sony XM5.</a:t>
            </a:r>
          </a:p>
          <a:p xmlns:a="http://schemas.openxmlformats.org/drawingml/2006/main">
            <a:pPr algn="l">
              <a:defRPr sz="5925" b="1">
                <a:solidFill>
                  <a:srgbClr val="3669AE"/>
                </a:solidFill>
                <a:latin typeface="Helvetica Neue"/>
                <a:ea typeface="Helvetica Neue"/>
                <a:cs typeface="Helvetica Neue"/>
              </a:defRPr>
            </a:pPr>
            <a:r>
              <a:rPr sz="5925" b="1">
                <a:solidFill>
                  <a:srgbClr val="3669AE"/>
                </a:solidFill>
                <a:latin typeface="Helvetica Neue"/>
                <a:ea typeface="Helvetica Neue"/>
                <a:cs typeface="Helvetica Neue"/>
              </a:rPr>
              <a:t>Under $300.”</a:t>
            </a:r>
          </a:p>
        </p:txBody>
      </p:sp>
      <p:sp>
        <p:nvSpPr>
          <p:cNvPr id="2" name="!!Budget">
            <a:extLst xmlns:a="http://schemas.openxmlformats.org/drawingml/2006/main">
              <a:ext uri="{FF2B5EF4-FFF2-40B4-BE49-F238E27FC236}">
                <a16:creationId xmlns:a16="http://schemas.microsoft.com/office/drawing/2014/main" id="{F0EB6BE8-32DE-4E82-AABB-9748067A7219}"/>
              </a:ext>
            </a:extLst>
          </p:cNvPr>
          <p:cNvSpPr>
            <a:spLocks xmlns:a="http://schemas.openxmlformats.org/drawingml/2006/main" noGrp="1"/>
          </p:cNvSpPr>
          <p:nvPr/>
        </p:nvSpPr>
        <p:spPr>
          <a:xfrm xmlns:a="http://schemas.openxmlformats.org/drawingml/2006/main">
            <a:off x="781050" y="3781425"/>
            <a:ext cx="3381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375" b="1">
                <a:solidFill>
                  <a:srgbClr val="17202A"/>
                </a:solidFill>
                <a:latin typeface="Helvetica Neue"/>
                <a:ea typeface="Helvetica Neue"/>
                <a:cs typeface="Helvetica Neue"/>
              </a:defRPr>
            </a:defPPr>
          </a:lstStyle>
          <a:p xmlns:a="http://schemas.openxmlformats.org/drawingml/2006/main">
            <a:pPr algn="l">
              <a:defRPr sz="6375" b="1">
                <a:solidFill>
                  <a:srgbClr val="17202A"/>
                </a:solidFill>
                <a:latin typeface="Helvetica Neue"/>
                <a:ea typeface="Helvetica Neue"/>
                <a:cs typeface="Helvetica Neue"/>
              </a:defRPr>
            </a:pPr>
            <a:r>
              <a:rPr sz="6375" b="1">
                <a:solidFill>
                  <a:srgbClr val="17202A"/>
                </a:solidFill>
                <a:latin typeface="Helvetica Neue"/>
                <a:ea typeface="Helvetica Neue"/>
                <a:cs typeface="Helvetica Neue"/>
              </a:rPr>
              <a:t>$300</a:t>
            </a:r>
          </a:p>
        </p:txBody>
      </p:sp>
      <p:sp>
        <p:nvSpPr>
          <p:cNvPr id="3" name="scene-4-item-2">
            <a:extLst xmlns:a="http://schemas.openxmlformats.org/drawingml/2006/main">
              <a:ext uri="{FF2B5EF4-FFF2-40B4-BE49-F238E27FC236}">
                <a16:creationId xmlns:a16="http://schemas.microsoft.com/office/drawing/2014/main" id="{56364DE2-4717-4166-86EC-03B2B4497DF0}"/>
              </a:ext>
            </a:extLst>
          </p:cNvPr>
          <p:cNvSpPr>
            <a:spLocks xmlns:a="http://schemas.openxmlformats.org/drawingml/2006/main" noGrp="1"/>
          </p:cNvSpPr>
          <p:nvPr/>
        </p:nvSpPr>
        <p:spPr>
          <a:xfrm xmlns:a="http://schemas.openxmlformats.org/drawingml/2006/main">
            <a:off x="809625" y="4933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697179"/>
                </a:solidFill>
                <a:latin typeface="Helvetica Neue"/>
                <a:ea typeface="Helvetica Neue"/>
                <a:cs typeface="Helvetica Neue"/>
              </a:defRPr>
            </a:defPPr>
          </a:lstStyle>
          <a:p xmlns:a="http://schemas.openxmlformats.org/drawingml/2006/main">
            <a:pPr algn="l">
              <a:defRPr sz="2175" b="0">
                <a:solidFill>
                  <a:srgbClr val="697179"/>
                </a:solidFill>
                <a:latin typeface="Helvetica Neue"/>
                <a:ea typeface="Helvetica Neue"/>
                <a:cs typeface="Helvetica Neue"/>
              </a:defRPr>
            </a:pPr>
            <a:r>
              <a:rPr sz="2175" b="0">
                <a:solidFill>
                  <a:srgbClr val="697179"/>
                </a:solidFill>
                <a:latin typeface="Helvetica Neue"/>
                <a:ea typeface="Helvetica Neue"/>
                <a:cs typeface="Helvetica Neue"/>
              </a:rPr>
              <a:t>spending limit</a:t>
            </a:r>
          </a:p>
        </p:txBody>
      </p:sp>
      <p:sp>
        <p:nvSpPr>
          <p:cNvPr id="4" name="!!ApprovalLimit">
            <a:extLst xmlns:a="http://schemas.openxmlformats.org/drawingml/2006/main">
              <a:ext uri="{FF2B5EF4-FFF2-40B4-BE49-F238E27FC236}">
                <a16:creationId xmlns:a16="http://schemas.microsoft.com/office/drawing/2014/main" id="{83CE3ED8-4747-4528-8D3E-698F26495801}"/>
              </a:ext>
            </a:extLst>
          </p:cNvPr>
          <p:cNvSpPr>
            <a:spLocks xmlns:a="http://schemas.openxmlformats.org/drawingml/2006/main" noGrp="1"/>
          </p:cNvSpPr>
          <p:nvPr/>
        </p:nvSpPr>
        <p:spPr>
          <a:xfrm xmlns:a="http://schemas.openxmlformats.org/drawingml/2006/main">
            <a:off x="4581525" y="3781425"/>
            <a:ext cx="3381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375" b="1">
                <a:solidFill>
                  <a:srgbClr val="17202A"/>
                </a:solidFill>
                <a:latin typeface="Helvetica Neue"/>
                <a:ea typeface="Helvetica Neue"/>
                <a:cs typeface="Helvetica Neue"/>
              </a:defRPr>
            </a:defPPr>
          </a:lstStyle>
          <a:p xmlns:a="http://schemas.openxmlformats.org/drawingml/2006/main">
            <a:pPr algn="l">
              <a:defRPr sz="6375" b="1">
                <a:solidFill>
                  <a:srgbClr val="17202A"/>
                </a:solidFill>
                <a:latin typeface="Helvetica Neue"/>
                <a:ea typeface="Helvetica Neue"/>
                <a:cs typeface="Helvetica Neue"/>
              </a:defRPr>
            </a:pPr>
            <a:r>
              <a:rPr sz="6375" b="1">
                <a:solidFill>
                  <a:srgbClr val="17202A"/>
                </a:solidFill>
                <a:latin typeface="Helvetica Neue"/>
                <a:ea typeface="Helvetica Neue"/>
                <a:cs typeface="Helvetica Neue"/>
              </a:rPr>
              <a:t>$250</a:t>
            </a:r>
          </a:p>
        </p:txBody>
      </p:sp>
      <p:sp>
        <p:nvSpPr>
          <p:cNvPr id="5" name="scene-4-item-4">
            <a:extLst xmlns:a="http://schemas.openxmlformats.org/drawingml/2006/main">
              <a:ext uri="{FF2B5EF4-FFF2-40B4-BE49-F238E27FC236}">
                <a16:creationId xmlns:a16="http://schemas.microsoft.com/office/drawing/2014/main" id="{80348B09-C82B-48A2-8382-B8D905F01209}"/>
              </a:ext>
            </a:extLst>
          </p:cNvPr>
          <p:cNvSpPr>
            <a:spLocks xmlns:a="http://schemas.openxmlformats.org/drawingml/2006/main" noGrp="1"/>
          </p:cNvSpPr>
          <p:nvPr/>
        </p:nvSpPr>
        <p:spPr>
          <a:xfrm xmlns:a="http://schemas.openxmlformats.org/drawingml/2006/main">
            <a:off x="4619625" y="49339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697179"/>
                </a:solidFill>
                <a:latin typeface="Helvetica Neue"/>
                <a:ea typeface="Helvetica Neue"/>
                <a:cs typeface="Helvetica Neue"/>
              </a:defRPr>
            </a:defPPr>
          </a:lstStyle>
          <a:p xmlns:a="http://schemas.openxmlformats.org/drawingml/2006/main">
            <a:pPr algn="l">
              <a:defRPr sz="2175" b="0">
                <a:solidFill>
                  <a:srgbClr val="697179"/>
                </a:solidFill>
                <a:latin typeface="Helvetica Neue"/>
                <a:ea typeface="Helvetica Neue"/>
                <a:cs typeface="Helvetica Neue"/>
              </a:defRPr>
            </a:pPr>
            <a:r>
              <a:rPr sz="2175" b="0">
                <a:solidFill>
                  <a:srgbClr val="697179"/>
                </a:solidFill>
                <a:latin typeface="Helvetica Neue"/>
                <a:ea typeface="Helvetica Neue"/>
                <a:cs typeface="Helvetica Neue"/>
              </a:rPr>
              <a:t>ask me above</a:t>
            </a:r>
          </a:p>
        </p:txBody>
      </p:sp>
      <p:pic>
        <p:nvPicPr>
          <p:cNvPr id="6" name="!!SonyProduct">
            <a:extLst xmlns:a="http://schemas.openxmlformats.org/drawingml/2006/main">
              <a:ext uri="{FF2B5EF4-FFF2-40B4-BE49-F238E27FC236}">
                <a16:creationId xmlns:a16="http://schemas.microsoft.com/office/drawing/2014/main" id="{63330327-C84F-439A-9851-11750DEFED89}"/>
              </a:ext>
            </a:extLst>
          </p:cNvPr>
          <p:cNvPicPr>
            <a:picLocks xmlns:a="http://schemas.openxmlformats.org/drawingml/2006/main" noChangeAspect="1"/>
          </p:cNvPicPr>
          <p:nvPr/>
        </p:nvPicPr>
        <p:blipFill>
          <a:blip xmlns:r="http://schemas.openxmlformats.org/officeDocument/2006/relationships" xmlns:a="http://schemas.openxmlformats.org/drawingml/2006/main" r:embed="R4670791ad14245ea"/>
          <a:stretch xmlns:a="http://schemas.openxmlformats.org/drawingml/2006/main"/>
        </p:blipFill>
        <p:spPr>
          <a:xfrm xmlns:a="http://schemas.openxmlformats.org/drawingml/2006/main">
            <a:off x="8286750" y="1695450"/>
            <a:ext cx="3143250" cy="3143250"/>
          </a:xfrm>
          <a:prstGeom xmlns:a="http://schemas.openxmlformats.org/drawingml/2006/main" prst="rect">
            <a:avLst/>
          </a:prstGeom>
        </p:spPr>
      </p:pic>
    </p:spTree>
    <p:extLst>
      <p:ext uri="{BB962C8B-B14F-4D97-AF65-F5344CB8AC3E}">
        <p14:creationId xmlns:p14="http://schemas.microsoft.com/office/powerpoint/2010/main" val="1768971179"/>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1B6EBE61-E26C-4B36-AA4C-D9067F881946}"/>
              </a:ext>
            </a:extLst>
          </p:cNvPr>
          <p:cNvSpPr>
            <a:spLocks xmlns:a="http://schemas.openxmlformats.org/drawingml/2006/main" noGrp="1"/>
          </p:cNvSpPr>
          <p:nvPr/>
        </p:nvSpPr>
        <p:spPr>
          <a:xfrm xmlns:a="http://schemas.openxmlformats.org/drawingml/2006/main">
            <a:off x="742950" y="685800"/>
            <a:ext cx="10477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400" b="1">
                <a:solidFill>
                  <a:srgbClr val="17202A"/>
                </a:solidFill>
                <a:latin typeface="Helvetica Neue"/>
                <a:ea typeface="Helvetica Neue"/>
                <a:cs typeface="Helvetica Neue"/>
              </a:defRPr>
            </a:defPPr>
          </a:lstStyle>
          <a:p xmlns:a="http://schemas.openxmlformats.org/drawingml/2006/main">
            <a:pPr algn="l">
              <a:defRPr sz="5400" b="1">
                <a:solidFill>
                  <a:srgbClr val="17202A"/>
                </a:solidFill>
                <a:latin typeface="Helvetica Neue"/>
                <a:ea typeface="Helvetica Neue"/>
                <a:cs typeface="Helvetica Neue"/>
              </a:defRPr>
            </a:pPr>
            <a:r>
              <a:rPr sz="5400" b="1">
                <a:solidFill>
                  <a:srgbClr val="17202A"/>
                </a:solidFill>
                <a:latin typeface="Helvetica Neue"/>
                <a:ea typeface="Helvetica Neue"/>
                <a:cs typeface="Helvetica Neue"/>
              </a:rPr>
              <a:t>One request.</a:t>
            </a:r>
          </a:p>
          <a:p xmlns:a="http://schemas.openxmlformats.org/drawingml/2006/main">
            <a:pPr algn="l">
              <a:defRPr sz="5400" b="1">
                <a:solidFill>
                  <a:srgbClr val="17202A"/>
                </a:solidFill>
                <a:latin typeface="Helvetica Neue"/>
                <a:ea typeface="Helvetica Neue"/>
                <a:cs typeface="Helvetica Neue"/>
              </a:defRPr>
            </a:pPr>
            <a:r>
              <a:rPr sz="5400" b="1">
                <a:solidFill>
                  <a:srgbClr val="17202A"/>
                </a:solidFill>
                <a:latin typeface="Helvetica Neue"/>
                <a:ea typeface="Helvetica Neue"/>
                <a:cs typeface="Helvetica Neue"/>
              </a:rPr>
              <a:t>Two merchants.</a:t>
            </a:r>
          </a:p>
        </p:txBody>
      </p:sp>
      <p:sp>
        <p:nvSpPr>
          <p:cNvPr id="2" name="!!DealPrice">
            <a:extLst xmlns:a="http://schemas.openxmlformats.org/drawingml/2006/main">
              <a:ext uri="{FF2B5EF4-FFF2-40B4-BE49-F238E27FC236}">
                <a16:creationId xmlns:a16="http://schemas.microsoft.com/office/drawing/2014/main" id="{FED2CC3E-8C69-4A4B-AFC0-574D09BA2318}"/>
              </a:ext>
            </a:extLst>
          </p:cNvPr>
          <p:cNvSpPr>
            <a:spLocks xmlns:a="http://schemas.openxmlformats.org/drawingml/2006/main" noGrp="1"/>
          </p:cNvSpPr>
          <p:nvPr/>
        </p:nvSpPr>
        <p:spPr>
          <a:xfrm xmlns:a="http://schemas.openxmlformats.org/drawingml/2006/main">
            <a:off x="723900" y="2600325"/>
            <a:ext cx="7572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00" b="1">
                <a:solidFill>
                  <a:srgbClr val="3669AE"/>
                </a:solidFill>
                <a:latin typeface="Helvetica Neue"/>
                <a:ea typeface="Helvetica Neue"/>
                <a:cs typeface="Helvetica Neue"/>
              </a:defRPr>
            </a:defPPr>
          </a:lstStyle>
          <a:p xmlns:a="http://schemas.openxmlformats.org/drawingml/2006/main">
            <a:pPr algn="l">
              <a:defRPr sz="10800" b="1">
                <a:solidFill>
                  <a:srgbClr val="3669AE"/>
                </a:solidFill>
                <a:latin typeface="Helvetica Neue"/>
                <a:ea typeface="Helvetica Neue"/>
                <a:cs typeface="Helvetica Neue"/>
              </a:defRPr>
            </a:pPr>
            <a:r>
              <a:rPr sz="10800" b="1">
                <a:solidFill>
                  <a:srgbClr val="3669AE"/>
                </a:solidFill>
                <a:latin typeface="Helvetica Neue"/>
                <a:ea typeface="Helvetica Neue"/>
                <a:cs typeface="Helvetica Neue"/>
              </a:rPr>
              <a:t>$299.99</a:t>
            </a:r>
          </a:p>
        </p:txBody>
      </p:sp>
      <p:sp>
        <p:nvSpPr>
          <p:cNvPr id="3" name="!!WinningMerchant">
            <a:extLst xmlns:a="http://schemas.openxmlformats.org/drawingml/2006/main">
              <a:ext uri="{FF2B5EF4-FFF2-40B4-BE49-F238E27FC236}">
                <a16:creationId xmlns:a16="http://schemas.microsoft.com/office/drawing/2014/main" id="{222AD62E-9DBF-40BE-9A78-191804DAE97E}"/>
              </a:ext>
            </a:extLst>
          </p:cNvPr>
          <p:cNvSpPr>
            <a:spLocks xmlns:a="http://schemas.openxmlformats.org/drawingml/2006/main" noGrp="1"/>
          </p:cNvSpPr>
          <p:nvPr/>
        </p:nvSpPr>
        <p:spPr>
          <a:xfrm xmlns:a="http://schemas.openxmlformats.org/drawingml/2006/main">
            <a:off x="819150" y="461962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7202A"/>
                </a:solidFill>
                <a:latin typeface="Helvetica Neue"/>
                <a:ea typeface="Helvetica Neue"/>
                <a:cs typeface="Helvetica Neue"/>
              </a:defRPr>
            </a:defPPr>
          </a:lstStyle>
          <a:p xmlns:a="http://schemas.openxmlformats.org/drawingml/2006/main">
            <a:pPr algn="l">
              <a:defRPr sz="2700" b="1">
                <a:solidFill>
                  <a:srgbClr val="17202A"/>
                </a:solidFill>
                <a:latin typeface="Helvetica Neue"/>
                <a:ea typeface="Helvetica Neue"/>
                <a:cs typeface="Helvetica Neue"/>
              </a:defRPr>
            </a:pPr>
            <a:r>
              <a:rPr sz="2700" b="1">
                <a:solidFill>
                  <a:srgbClr val="17202A"/>
                </a:solidFill>
                <a:latin typeface="Helvetica Neue"/>
                <a:ea typeface="Helvetica Neue"/>
                <a:cs typeface="Helvetica Neue"/>
              </a:rPr>
              <a:t>Aria Audio</a:t>
            </a:r>
          </a:p>
        </p:txBody>
      </p:sp>
      <p:sp>
        <p:nvSpPr>
          <p:cNvPr id="4" name="scene-5-item-3">
            <a:extLst xmlns:a="http://schemas.openxmlformats.org/drawingml/2006/main">
              <a:ext uri="{FF2B5EF4-FFF2-40B4-BE49-F238E27FC236}">
                <a16:creationId xmlns:a16="http://schemas.microsoft.com/office/drawing/2014/main" id="{F48E9F28-BFD9-4671-934D-911324F5EBFF}"/>
              </a:ext>
            </a:extLst>
          </p:cNvPr>
          <p:cNvSpPr>
            <a:spLocks xmlns:a="http://schemas.openxmlformats.org/drawingml/2006/main" noGrp="1"/>
          </p:cNvSpPr>
          <p:nvPr/>
        </p:nvSpPr>
        <p:spPr>
          <a:xfrm xmlns:a="http://schemas.openxmlformats.org/drawingml/2006/main">
            <a:off x="819150" y="53149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697179"/>
                </a:solidFill>
                <a:latin typeface="Helvetica Neue"/>
                <a:ea typeface="Helvetica Neue"/>
                <a:cs typeface="Helvetica Neue"/>
              </a:defRPr>
            </a:defPPr>
          </a:lstStyle>
          <a:p xmlns:a="http://schemas.openxmlformats.org/drawingml/2006/main">
            <a:pPr algn="l">
              <a:defRPr sz="2250" b="0">
                <a:solidFill>
                  <a:srgbClr val="697179"/>
                </a:solidFill>
                <a:latin typeface="Helvetica Neue"/>
                <a:ea typeface="Helvetica Neue"/>
                <a:cs typeface="Helvetica Neue"/>
              </a:defRPr>
            </a:pPr>
            <a:r>
              <a:rPr sz="2250" b="0">
                <a:solidFill>
                  <a:srgbClr val="697179"/>
                </a:solidFill>
                <a:latin typeface="Helvetica Neue"/>
                <a:ea typeface="Helvetica Neue"/>
                <a:cs typeface="Helvetica Neue"/>
              </a:rPr>
              <a:t>Silver. Next-day delivery. 45-day returns.</a:t>
            </a:r>
          </a:p>
        </p:txBody>
      </p:sp>
      <p:sp>
        <p:nvSpPr>
          <p:cNvPr id="5" name="scene-5-item-4">
            <a:extLst xmlns:a="http://schemas.openxmlformats.org/drawingml/2006/main">
              <a:ext uri="{FF2B5EF4-FFF2-40B4-BE49-F238E27FC236}">
                <a16:creationId xmlns:a16="http://schemas.microsoft.com/office/drawing/2014/main" id="{D671660A-1F96-41C5-83A8-6B5140FCAA09}"/>
              </a:ext>
            </a:extLst>
          </p:cNvPr>
          <p:cNvSpPr>
            <a:spLocks xmlns:a="http://schemas.openxmlformats.org/drawingml/2006/main" noGrp="1"/>
          </p:cNvSpPr>
          <p:nvPr/>
        </p:nvSpPr>
        <p:spPr>
          <a:xfrm xmlns:a="http://schemas.openxmlformats.org/drawingml/2006/main">
            <a:off x="742950" y="61912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97179"/>
                </a:solidFill>
                <a:latin typeface="Helvetica Neue"/>
                <a:ea typeface="Helvetica Neue"/>
                <a:cs typeface="Helvetica Neue"/>
              </a:defRPr>
            </a:defPPr>
          </a:lstStyle>
          <a:p xmlns:a="http://schemas.openxmlformats.org/drawingml/2006/main">
            <a:pPr algn="l">
              <a:defRPr sz="1500" b="0">
                <a:solidFill>
                  <a:srgbClr val="697179"/>
                </a:solidFill>
                <a:latin typeface="Helvetica Neue"/>
                <a:ea typeface="Helvetica Neue"/>
                <a:cs typeface="Helvetica Neue"/>
              </a:defRPr>
            </a:pPr>
            <a:r>
              <a:rPr sz="1500" b="0">
                <a:solidFill>
                  <a:srgbClr val="697179"/>
                </a:solidFill>
                <a:latin typeface="Helvetica Neue"/>
                <a:ea typeface="Helvetica Neue"/>
                <a:cs typeface="Helvetica Neue"/>
              </a:rPr>
              <a:t>Illustrative preset deal. The shopper compares fit as well as price.</a:t>
            </a:r>
          </a:p>
        </p:txBody>
      </p:sp>
    </p:spTree>
    <p:extLst>
      <p:ext uri="{BB962C8B-B14F-4D97-AF65-F5344CB8AC3E}">
        <p14:creationId xmlns:p14="http://schemas.microsoft.com/office/powerpoint/2010/main" val="582856627"/>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F51AD7CD-BAFF-4F03-93EE-4757CB06C8D4}"/>
              </a:ext>
            </a:extLst>
          </p:cNvPr>
          <p:cNvSpPr>
            <a:spLocks xmlns:a="http://schemas.openxmlformats.org/drawingml/2006/main" noGrp="1"/>
          </p:cNvSpPr>
          <p:nvPr/>
        </p:nvSpPr>
        <p:spPr>
          <a:xfrm xmlns:a="http://schemas.openxmlformats.org/drawingml/2006/main">
            <a:off x="742950" y="876300"/>
            <a:ext cx="7524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00" b="1">
                <a:solidFill>
                  <a:srgbClr val="17202A"/>
                </a:solidFill>
                <a:latin typeface="Helvetica Neue"/>
                <a:ea typeface="Helvetica Neue"/>
                <a:cs typeface="Helvetica Neue"/>
              </a:defRPr>
            </a:defPPr>
          </a:lstStyle>
          <a:p xmlns:a="http://schemas.openxmlformats.org/drawingml/2006/main">
            <a:pPr algn="l">
              <a:defRPr sz="5700" b="1">
                <a:solidFill>
                  <a:srgbClr val="17202A"/>
                </a:solidFill>
                <a:latin typeface="Helvetica Neue"/>
                <a:ea typeface="Helvetica Neue"/>
                <a:cs typeface="Helvetica Neue"/>
              </a:defRPr>
            </a:pPr>
            <a:r>
              <a:rPr sz="5700" b="1">
                <a:solidFill>
                  <a:srgbClr val="17202A"/>
                </a:solidFill>
                <a:latin typeface="Helvetica Neue"/>
                <a:ea typeface="Helvetica Neue"/>
                <a:cs typeface="Helvetica Neue"/>
              </a:rPr>
              <a:t>Agreement</a:t>
            </a:r>
          </a:p>
          <a:p xmlns:a="http://schemas.openxmlformats.org/drawingml/2006/main">
            <a:pPr algn="l">
              <a:defRPr sz="5700" b="1">
                <a:solidFill>
                  <a:srgbClr val="17202A"/>
                </a:solidFill>
                <a:latin typeface="Helvetica Neue"/>
                <a:ea typeface="Helvetica Neue"/>
                <a:cs typeface="Helvetica Neue"/>
              </a:defRPr>
            </a:pPr>
            <a:r>
              <a:rPr sz="5700" b="1">
                <a:solidFill>
                  <a:srgbClr val="17202A"/>
                </a:solidFill>
                <a:latin typeface="Helvetica Neue"/>
                <a:ea typeface="Helvetica Neue"/>
                <a:cs typeface="Helvetica Neue"/>
              </a:rPr>
              <a:t>needs authority</a:t>
            </a:r>
          </a:p>
        </p:txBody>
      </p:sp>
      <p:sp>
        <p:nvSpPr>
          <p:cNvPr id="2" name="!!DealPrice">
            <a:extLst xmlns:a="http://schemas.openxmlformats.org/drawingml/2006/main">
              <a:ext uri="{FF2B5EF4-FFF2-40B4-BE49-F238E27FC236}">
                <a16:creationId xmlns:a16="http://schemas.microsoft.com/office/drawing/2014/main" id="{567F38DA-9DF6-463C-B8EC-DDFFA4205CF3}"/>
              </a:ext>
            </a:extLst>
          </p:cNvPr>
          <p:cNvSpPr>
            <a:spLocks xmlns:a="http://schemas.openxmlformats.org/drawingml/2006/main" noGrp="1"/>
          </p:cNvSpPr>
          <p:nvPr/>
        </p:nvSpPr>
        <p:spPr>
          <a:xfrm xmlns:a="http://schemas.openxmlformats.org/drawingml/2006/main">
            <a:off x="781050" y="3305175"/>
            <a:ext cx="685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600" b="1">
                <a:solidFill>
                  <a:srgbClr val="3669AE"/>
                </a:solidFill>
                <a:latin typeface="Helvetica Neue"/>
                <a:ea typeface="Helvetica Neue"/>
                <a:cs typeface="Helvetica Neue"/>
              </a:defRPr>
            </a:defPPr>
          </a:lstStyle>
          <a:p xmlns:a="http://schemas.openxmlformats.org/drawingml/2006/main">
            <a:pPr algn="l">
              <a:defRPr sz="6600" b="1">
                <a:solidFill>
                  <a:srgbClr val="3669AE"/>
                </a:solidFill>
                <a:latin typeface="Helvetica Neue"/>
                <a:ea typeface="Helvetica Neue"/>
                <a:cs typeface="Helvetica Neue"/>
              </a:defRPr>
            </a:pPr>
            <a:r>
              <a:rPr sz="6600" b="1">
                <a:solidFill>
                  <a:srgbClr val="3669AE"/>
                </a:solidFill>
                <a:latin typeface="Helvetica Neue"/>
                <a:ea typeface="Helvetica Neue"/>
                <a:cs typeface="Helvetica Neue"/>
              </a:rPr>
              <a:t>$299.99</a:t>
            </a:r>
          </a:p>
        </p:txBody>
      </p:sp>
      <p:sp>
        <p:nvSpPr>
          <p:cNvPr id="3" name="scene-6-item-2">
            <a:extLst xmlns:a="http://schemas.openxmlformats.org/drawingml/2006/main">
              <a:ext uri="{FF2B5EF4-FFF2-40B4-BE49-F238E27FC236}">
                <a16:creationId xmlns:a16="http://schemas.microsoft.com/office/drawing/2014/main" id="{0208D666-0A74-4AC3-9D37-30311E59AC6A}"/>
              </a:ext>
            </a:extLst>
          </p:cNvPr>
          <p:cNvSpPr>
            <a:spLocks xmlns:a="http://schemas.openxmlformats.org/drawingml/2006/main" noGrp="1"/>
          </p:cNvSpPr>
          <p:nvPr/>
        </p:nvSpPr>
        <p:spPr>
          <a:xfrm xmlns:a="http://schemas.openxmlformats.org/drawingml/2006/main">
            <a:off x="828675" y="4629150"/>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697179"/>
                </a:solidFill>
                <a:latin typeface="Helvetica Neue"/>
                <a:ea typeface="Helvetica Neue"/>
                <a:cs typeface="Helvetica Neue"/>
              </a:defRPr>
            </a:defPPr>
          </a:lstStyle>
          <a:p xmlns:a="http://schemas.openxmlformats.org/drawingml/2006/main">
            <a:pPr algn="l">
              <a:defRPr sz="2325" b="0">
                <a:solidFill>
                  <a:srgbClr val="697179"/>
                </a:solidFill>
                <a:latin typeface="Helvetica Neue"/>
                <a:ea typeface="Helvetica Neue"/>
                <a:cs typeface="Helvetica Neue"/>
              </a:defRPr>
            </a:pPr>
            <a:r>
              <a:rPr sz="2325" b="0">
                <a:solidFill>
                  <a:srgbClr val="697179"/>
                </a:solidFill>
                <a:latin typeface="Helvetica Neue"/>
                <a:ea typeface="Helvetica Neue"/>
                <a:cs typeface="Helvetica Neue"/>
              </a:rPr>
              <a:t>Inside the $300 budget</a:t>
            </a:r>
          </a:p>
        </p:txBody>
      </p:sp>
      <p:sp>
        <p:nvSpPr>
          <p:cNvPr id="4" name="scene-6-item-3">
            <a:extLst xmlns:a="http://schemas.openxmlformats.org/drawingml/2006/main">
              <a:ext uri="{FF2B5EF4-FFF2-40B4-BE49-F238E27FC236}">
                <a16:creationId xmlns:a16="http://schemas.microsoft.com/office/drawing/2014/main" id="{F2F46E48-6A18-4006-8E78-5F075145E60E}"/>
              </a:ext>
            </a:extLst>
          </p:cNvPr>
          <p:cNvSpPr>
            <a:spLocks xmlns:a="http://schemas.openxmlformats.org/drawingml/2006/main" noGrp="1"/>
          </p:cNvSpPr>
          <p:nvPr/>
        </p:nvSpPr>
        <p:spPr>
          <a:xfrm xmlns:a="http://schemas.openxmlformats.org/drawingml/2006/main">
            <a:off x="828675" y="52673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A76728"/>
                </a:solidFill>
                <a:latin typeface="Helvetica Neue"/>
                <a:ea typeface="Helvetica Neue"/>
                <a:cs typeface="Helvetica Neue"/>
              </a:defRPr>
            </a:defPPr>
          </a:lstStyle>
          <a:p xmlns:a="http://schemas.openxmlformats.org/drawingml/2006/main">
            <a:pPr algn="l">
              <a:defRPr sz="2325" b="0">
                <a:solidFill>
                  <a:srgbClr val="A76728"/>
                </a:solidFill>
                <a:latin typeface="Helvetica Neue"/>
                <a:ea typeface="Helvetica Neue"/>
                <a:cs typeface="Helvetica Neue"/>
              </a:defRPr>
            </a:pPr>
            <a:r>
              <a:rPr sz="2325" b="0">
                <a:solidFill>
                  <a:srgbClr val="A76728"/>
                </a:solidFill>
                <a:latin typeface="Helvetica Neue"/>
                <a:ea typeface="Helvetica Neue"/>
                <a:cs typeface="Helvetica Neue"/>
              </a:rPr>
              <a:t>Above the $250 approval limit</a:t>
            </a:r>
          </a:p>
        </p:txBody>
      </p:sp>
      <p:pic>
        <p:nvPicPr>
          <p:cNvPr id="5" name="!!AuthorityScreenshot">
            <a:extLst xmlns:a="http://schemas.openxmlformats.org/drawingml/2006/main">
              <a:ext uri="{FF2B5EF4-FFF2-40B4-BE49-F238E27FC236}">
                <a16:creationId xmlns:a16="http://schemas.microsoft.com/office/drawing/2014/main" id="{BEB6B17C-0400-4790-8184-C8A35C09BA64}"/>
              </a:ext>
            </a:extLst>
          </p:cNvPr>
          <p:cNvPicPr>
            <a:picLocks xmlns:a="http://schemas.openxmlformats.org/drawingml/2006/main" noChangeAspect="1"/>
          </p:cNvPicPr>
          <p:nvPr/>
        </p:nvPicPr>
        <p:blipFill>
          <a:blip xmlns:r="http://schemas.openxmlformats.org/officeDocument/2006/relationships" xmlns:a="http://schemas.openxmlformats.org/drawingml/2006/main" r:embed="R19ab25ac12e44cd9"/>
          <a:stretch xmlns:a="http://schemas.openxmlformats.org/drawingml/2006/main"/>
        </p:blipFill>
        <p:spPr>
          <a:xfrm xmlns:a="http://schemas.openxmlformats.org/drawingml/2006/main">
            <a:off x="8258175" y="3069516"/>
            <a:ext cx="3171825" cy="2662067"/>
          </a:xfrm>
          <a:prstGeom xmlns:a="http://schemas.openxmlformats.org/drawingml/2006/main" prst="rect">
            <a:avLst/>
          </a:prstGeom>
        </p:spPr>
      </p:pic>
    </p:spTree>
    <p:extLst>
      <p:ext uri="{BB962C8B-B14F-4D97-AF65-F5344CB8AC3E}">
        <p14:creationId xmlns:p14="http://schemas.microsoft.com/office/powerpoint/2010/main" val="956070885"/>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69F54389-1E45-4A9D-86CD-23CFE91B292A}"/>
              </a:ext>
            </a:extLst>
          </p:cNvPr>
          <p:cNvSpPr>
            <a:spLocks xmlns:a="http://schemas.openxmlformats.org/drawingml/2006/main" noGrp="1"/>
          </p:cNvSpPr>
          <p:nvPr/>
        </p:nvSpPr>
        <p:spPr>
          <a:xfrm xmlns:a="http://schemas.openxmlformats.org/drawingml/2006/main">
            <a:off x="742950" y="876300"/>
            <a:ext cx="10477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675" b="1">
                <a:solidFill>
                  <a:srgbClr val="17202A"/>
                </a:solidFill>
                <a:latin typeface="Helvetica Neue"/>
                <a:ea typeface="Helvetica Neue"/>
                <a:cs typeface="Helvetica Neue"/>
              </a:defRPr>
            </a:defPPr>
          </a:lstStyle>
          <a:p xmlns:a="http://schemas.openxmlformats.org/drawingml/2006/main">
            <a:pPr algn="l">
              <a:defRPr sz="6675" b="1">
                <a:solidFill>
                  <a:srgbClr val="17202A"/>
                </a:solidFill>
                <a:latin typeface="Helvetica Neue"/>
                <a:ea typeface="Helvetica Neue"/>
                <a:cs typeface="Helvetica Neue"/>
              </a:defRPr>
            </a:pPr>
            <a:r>
              <a:rPr sz="6675" b="1">
                <a:solidFill>
                  <a:srgbClr val="17202A"/>
                </a:solidFill>
                <a:latin typeface="Helvetica Neue"/>
                <a:ea typeface="Helvetica Neue"/>
                <a:cs typeface="Helvetica Neue"/>
              </a:rPr>
              <a:t>You approve</a:t>
            </a:r>
          </a:p>
        </p:txBody>
      </p:sp>
      <p:sp>
        <p:nvSpPr>
          <p:cNvPr id="2" name="!!DealPrice">
            <a:extLst xmlns:a="http://schemas.openxmlformats.org/drawingml/2006/main">
              <a:ext uri="{FF2B5EF4-FFF2-40B4-BE49-F238E27FC236}">
                <a16:creationId xmlns:a16="http://schemas.microsoft.com/office/drawing/2014/main" id="{FB94AB03-7B5A-42C1-AD2B-98285DA0B29C}"/>
              </a:ext>
            </a:extLst>
          </p:cNvPr>
          <p:cNvSpPr>
            <a:spLocks xmlns:a="http://schemas.openxmlformats.org/drawingml/2006/main" noGrp="1"/>
          </p:cNvSpPr>
          <p:nvPr/>
        </p:nvSpPr>
        <p:spPr>
          <a:xfrm xmlns:a="http://schemas.openxmlformats.org/drawingml/2006/main">
            <a:off x="723900" y="2790825"/>
            <a:ext cx="7429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00" b="1">
                <a:solidFill>
                  <a:srgbClr val="3669AE"/>
                </a:solidFill>
                <a:latin typeface="Helvetica Neue"/>
                <a:ea typeface="Helvetica Neue"/>
                <a:cs typeface="Helvetica Neue"/>
              </a:defRPr>
            </a:defPPr>
          </a:lstStyle>
          <a:p xmlns:a="http://schemas.openxmlformats.org/drawingml/2006/main">
            <a:pPr algn="l">
              <a:defRPr sz="10800" b="1">
                <a:solidFill>
                  <a:srgbClr val="3669AE"/>
                </a:solidFill>
                <a:latin typeface="Helvetica Neue"/>
                <a:ea typeface="Helvetica Neue"/>
                <a:cs typeface="Helvetica Neue"/>
              </a:defRPr>
            </a:pPr>
            <a:r>
              <a:rPr sz="10800" b="1">
                <a:solidFill>
                  <a:srgbClr val="3669AE"/>
                </a:solidFill>
                <a:latin typeface="Helvetica Neue"/>
                <a:ea typeface="Helvetica Neue"/>
                <a:cs typeface="Helvetica Neue"/>
              </a:rPr>
              <a:t>$299.99</a:t>
            </a:r>
          </a:p>
        </p:txBody>
      </p:sp>
      <p:sp>
        <p:nvSpPr>
          <p:cNvPr id="3" name="scene-7-item-2">
            <a:extLst xmlns:a="http://schemas.openxmlformats.org/drawingml/2006/main">
              <a:ext uri="{FF2B5EF4-FFF2-40B4-BE49-F238E27FC236}">
                <a16:creationId xmlns:a16="http://schemas.microsoft.com/office/drawing/2014/main" id="{1808CF78-9415-40E3-8EA1-854E25E2478F}"/>
              </a:ext>
            </a:extLst>
          </p:cNvPr>
          <p:cNvSpPr>
            <a:spLocks xmlns:a="http://schemas.openxmlformats.org/drawingml/2006/main" noGrp="1"/>
          </p:cNvSpPr>
          <p:nvPr/>
        </p:nvSpPr>
        <p:spPr>
          <a:xfrm xmlns:a="http://schemas.openxmlformats.org/drawingml/2006/main">
            <a:off x="819150" y="4867275"/>
            <a:ext cx="647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697179"/>
                </a:solidFill>
                <a:latin typeface="Helvetica Neue"/>
                <a:ea typeface="Helvetica Neue"/>
                <a:cs typeface="Helvetica Neue"/>
              </a:defRPr>
            </a:defPPr>
          </a:lstStyle>
          <a:p xmlns:a="http://schemas.openxmlformats.org/drawingml/2006/main">
            <a:pPr algn="l">
              <a:defRPr sz="2325" b="0">
                <a:solidFill>
                  <a:srgbClr val="697179"/>
                </a:solidFill>
                <a:latin typeface="Helvetica Neue"/>
                <a:ea typeface="Helvetica Neue"/>
                <a:cs typeface="Helvetica Neue"/>
              </a:defRPr>
            </a:pPr>
            <a:r>
              <a:rPr sz="2325" b="0">
                <a:solidFill>
                  <a:srgbClr val="697179"/>
                </a:solidFill>
                <a:latin typeface="Helvetica Neue"/>
                <a:ea typeface="Helvetica Neue"/>
                <a:cs typeface="Helvetica Neue"/>
              </a:rPr>
              <a:t>purchase permission</a:t>
            </a:r>
          </a:p>
        </p:txBody>
      </p:sp>
      <p:sp>
        <p:nvSpPr>
          <p:cNvPr id="4" name="scene-7-item-3">
            <a:extLst xmlns:a="http://schemas.openxmlformats.org/drawingml/2006/main">
              <a:ext uri="{FF2B5EF4-FFF2-40B4-BE49-F238E27FC236}">
                <a16:creationId xmlns:a16="http://schemas.microsoft.com/office/drawing/2014/main" id="{7A77EA42-B0F4-4B52-9AA8-10B55C85567D}"/>
              </a:ext>
            </a:extLst>
          </p:cNvPr>
          <p:cNvSpPr>
            <a:spLocks xmlns:a="http://schemas.openxmlformats.org/drawingml/2006/main" noGrp="1"/>
          </p:cNvSpPr>
          <p:nvPr/>
        </p:nvSpPr>
        <p:spPr>
          <a:xfrm xmlns:a="http://schemas.openxmlformats.org/drawingml/2006/main">
            <a:off x="8296275" y="313372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367C62"/>
                </a:solidFill>
                <a:latin typeface="Helvetica Neue"/>
                <a:ea typeface="Helvetica Neue"/>
                <a:cs typeface="Helvetica Neue"/>
              </a:defRPr>
            </a:defPPr>
          </a:lstStyle>
          <a:p xmlns:a="http://schemas.openxmlformats.org/drawingml/2006/main">
            <a:pPr algn="l">
              <a:defRPr sz="4200" b="1">
                <a:solidFill>
                  <a:srgbClr val="367C62"/>
                </a:solidFill>
                <a:latin typeface="Helvetica Neue"/>
                <a:ea typeface="Helvetica Neue"/>
                <a:cs typeface="Helvetica Neue"/>
              </a:defRPr>
            </a:pPr>
            <a:r>
              <a:rPr sz="4200" b="1">
                <a:solidFill>
                  <a:srgbClr val="367C62"/>
                </a:solidFill>
                <a:latin typeface="Helvetica Neue"/>
                <a:ea typeface="Helvetica Neue"/>
                <a:cs typeface="Helvetica Neue"/>
              </a:rPr>
              <a:t>Then Pact</a:t>
            </a:r>
          </a:p>
          <a:p xmlns:a="http://schemas.openxmlformats.org/drawingml/2006/main">
            <a:pPr algn="l">
              <a:defRPr sz="4200" b="1">
                <a:solidFill>
                  <a:srgbClr val="367C62"/>
                </a:solidFill>
                <a:latin typeface="Helvetica Neue"/>
                <a:ea typeface="Helvetica Neue"/>
                <a:cs typeface="Helvetica Neue"/>
              </a:defRPr>
            </a:pPr>
            <a:r>
              <a:rPr sz="4200" b="1">
                <a:solidFill>
                  <a:srgbClr val="367C62"/>
                </a:solidFill>
                <a:latin typeface="Helvetica Neue"/>
                <a:ea typeface="Helvetica Neue"/>
                <a:cs typeface="Helvetica Neue"/>
              </a:rPr>
              <a:t>acts</a:t>
            </a:r>
          </a:p>
        </p:txBody>
      </p:sp>
      <p:sp>
        <p:nvSpPr>
          <p:cNvPr id="5" name="scene-7-item-4">
            <a:extLst xmlns:a="http://schemas.openxmlformats.org/drawingml/2006/main">
              <a:ext uri="{FF2B5EF4-FFF2-40B4-BE49-F238E27FC236}">
                <a16:creationId xmlns:a16="http://schemas.microsoft.com/office/drawing/2014/main" id="{A56AE709-3E9F-4B8C-BD42-1BB344FA6C71}"/>
              </a:ext>
            </a:extLst>
          </p:cNvPr>
          <p:cNvSpPr>
            <a:spLocks xmlns:a="http://schemas.openxmlformats.org/drawingml/2006/main" noGrp="1"/>
          </p:cNvSpPr>
          <p:nvPr/>
        </p:nvSpPr>
        <p:spPr>
          <a:xfrm xmlns:a="http://schemas.openxmlformats.org/drawingml/2006/main">
            <a:off x="742950" y="61912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97179"/>
                </a:solidFill>
                <a:latin typeface="Helvetica Neue"/>
                <a:ea typeface="Helvetica Neue"/>
                <a:cs typeface="Helvetica Neue"/>
              </a:defRPr>
            </a:defPPr>
          </a:lstStyle>
          <a:p xmlns:a="http://schemas.openxmlformats.org/drawingml/2006/main">
            <a:pPr algn="l">
              <a:defRPr sz="1500" b="0">
                <a:solidFill>
                  <a:srgbClr val="697179"/>
                </a:solidFill>
                <a:latin typeface="Helvetica Neue"/>
                <a:ea typeface="Helvetica Neue"/>
                <a:cs typeface="Helvetica Neue"/>
              </a:defRPr>
            </a:pPr>
            <a:r>
              <a:rPr sz="1500" b="0">
                <a:solidFill>
                  <a:srgbClr val="697179"/>
                </a:solidFill>
                <a:latin typeface="Helvetica Neue"/>
                <a:ea typeface="Helvetica Neue"/>
                <a:cs typeface="Helvetica Neue"/>
              </a:rPr>
              <a:t>Checkout and inventory reservation are simulated. No payment is taken.</a:t>
            </a:r>
          </a:p>
        </p:txBody>
      </p:sp>
    </p:spTree>
    <p:extLst>
      <p:ext uri="{BB962C8B-B14F-4D97-AF65-F5344CB8AC3E}">
        <p14:creationId xmlns:p14="http://schemas.microsoft.com/office/powerpoint/2010/main" val="473373452"/>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4D15B9D-05F3-4701-ADA9-CD5CE7E19F4C}"/>
              </a:ext>
            </a:extLst>
          </p:cNvPr>
          <p:cNvSpPr>
            <a:spLocks xmlns:a="http://schemas.openxmlformats.org/drawingml/2006/main" noGrp="1"/>
          </p:cNvSpPr>
          <p:nvPr/>
        </p:nvSpPr>
        <p:spPr>
          <a:xfrm xmlns:a="http://schemas.openxmlformats.org/drawingml/2006/main">
            <a:off x="742950" y="914400"/>
            <a:ext cx="6124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17202A"/>
                </a:solidFill>
                <a:latin typeface="Helvetica Neue"/>
                <a:ea typeface="Helvetica Neue"/>
                <a:cs typeface="Helvetica Neue"/>
              </a:defRPr>
            </a:defPPr>
          </a:lstStyle>
          <a:p xmlns:a="http://schemas.openxmlformats.org/drawingml/2006/main">
            <a:pPr algn="l">
              <a:defRPr sz="6000" b="1">
                <a:solidFill>
                  <a:srgbClr val="17202A"/>
                </a:solidFill>
                <a:latin typeface="Helvetica Neue"/>
                <a:ea typeface="Helvetica Neue"/>
                <a:cs typeface="Helvetica Neue"/>
              </a:defRPr>
            </a:pPr>
            <a:r>
              <a:rPr sz="6000" b="1">
                <a:solidFill>
                  <a:srgbClr val="17202A"/>
                </a:solidFill>
                <a:latin typeface="Helvetica Neue"/>
                <a:ea typeface="Helvetica Neue"/>
                <a:cs typeface="Helvetica Neue"/>
              </a:rPr>
              <a:t>The deal</a:t>
            </a:r>
          </a:p>
          <a:p xmlns:a="http://schemas.openxmlformats.org/drawingml/2006/main">
            <a:pPr algn="l">
              <a:defRPr sz="6000" b="1">
                <a:solidFill>
                  <a:srgbClr val="17202A"/>
                </a:solidFill>
                <a:latin typeface="Helvetica Neue"/>
                <a:ea typeface="Helvetica Neue"/>
                <a:cs typeface="Helvetica Neue"/>
              </a:defRPr>
            </a:pPr>
            <a:r>
              <a:rPr sz="6000" b="1">
                <a:solidFill>
                  <a:srgbClr val="17202A"/>
                </a:solidFill>
                <a:latin typeface="Helvetica Neue"/>
                <a:ea typeface="Helvetica Neue"/>
                <a:cs typeface="Helvetica Neue"/>
              </a:rPr>
              <a:t>keeps moving</a:t>
            </a:r>
          </a:p>
        </p:txBody>
      </p:sp>
      <p:sp>
        <p:nvSpPr>
          <p:cNvPr id="2" name="scene-8-item-1">
            <a:extLst xmlns:a="http://schemas.openxmlformats.org/drawingml/2006/main">
              <a:ext uri="{FF2B5EF4-FFF2-40B4-BE49-F238E27FC236}">
                <a16:creationId xmlns:a16="http://schemas.microsoft.com/office/drawing/2014/main" id="{CCEF1625-A7E0-4786-ACF3-2801BB3039C5}"/>
              </a:ext>
            </a:extLst>
          </p:cNvPr>
          <p:cNvSpPr>
            <a:spLocks xmlns:a="http://schemas.openxmlformats.org/drawingml/2006/main" noGrp="1"/>
          </p:cNvSpPr>
          <p:nvPr/>
        </p:nvSpPr>
        <p:spPr>
          <a:xfrm xmlns:a="http://schemas.openxmlformats.org/drawingml/2006/main">
            <a:off x="800100" y="3876675"/>
            <a:ext cx="5962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697179"/>
                </a:solidFill>
                <a:latin typeface="Helvetica Neue"/>
                <a:ea typeface="Helvetica Neue"/>
                <a:cs typeface="Helvetica Neue"/>
              </a:defRPr>
            </a:defPPr>
          </a:lstStyle>
          <a:p xmlns:a="http://schemas.openxmlformats.org/drawingml/2006/main">
            <a:pPr algn="l">
              <a:defRPr sz="2700" b="0">
                <a:solidFill>
                  <a:srgbClr val="697179"/>
                </a:solidFill>
                <a:latin typeface="Helvetica Neue"/>
                <a:ea typeface="Helvetica Neue"/>
                <a:cs typeface="Helvetica Neue"/>
              </a:defRPr>
            </a:pPr>
            <a:r>
              <a:rPr sz="2700" b="0">
                <a:solidFill>
                  <a:srgbClr val="697179"/>
                </a:solidFill>
                <a:latin typeface="Helvetica Neue"/>
                <a:ea typeface="Helvetica Neue"/>
                <a:cs typeface="Helvetica Neue"/>
              </a:rPr>
              <a:t>Delivery stays</a:t>
            </a:r>
          </a:p>
          <a:p xmlns:a="http://schemas.openxmlformats.org/drawingml/2006/main">
            <a:pPr algn="l">
              <a:defRPr sz="2700" b="0">
                <a:solidFill>
                  <a:srgbClr val="697179"/>
                </a:solidFill>
                <a:latin typeface="Helvetica Neue"/>
                <a:ea typeface="Helvetica Neue"/>
                <a:cs typeface="Helvetica Neue"/>
              </a:defRPr>
            </a:pPr>
            <a:r>
              <a:rPr sz="2700" b="0">
                <a:solidFill>
                  <a:srgbClr val="697179"/>
                </a:solidFill>
                <a:latin typeface="Helvetica Neue"/>
                <a:ea typeface="Helvetica Neue"/>
                <a:cs typeface="Helvetica Neue"/>
              </a:rPr>
              <a:t>in the same thread</a:t>
            </a:r>
          </a:p>
        </p:txBody>
      </p:sp>
      <p:pic>
        <p:nvPicPr>
          <p:cNvPr id="3" name="!!DeliveryScreenshot">
            <a:extLst xmlns:a="http://schemas.openxmlformats.org/drawingml/2006/main">
              <a:ext uri="{FF2B5EF4-FFF2-40B4-BE49-F238E27FC236}">
                <a16:creationId xmlns:a16="http://schemas.microsoft.com/office/drawing/2014/main" id="{7A2C61E7-4979-4A37-9507-9C758FB6A729}"/>
              </a:ext>
            </a:extLst>
          </p:cNvPr>
          <p:cNvPicPr>
            <a:picLocks xmlns:a="http://schemas.openxmlformats.org/drawingml/2006/main" noChangeAspect="1"/>
          </p:cNvPicPr>
          <p:nvPr/>
        </p:nvPicPr>
        <p:blipFill>
          <a:blip xmlns:r="http://schemas.openxmlformats.org/officeDocument/2006/relationships" xmlns:a="http://schemas.openxmlformats.org/drawingml/2006/main" r:embed="Rb7fd649c427d4dc1"/>
          <a:stretch xmlns:a="http://schemas.openxmlformats.org/drawingml/2006/main"/>
        </p:blipFill>
        <p:spPr>
          <a:xfrm xmlns:a="http://schemas.openxmlformats.org/drawingml/2006/main">
            <a:off x="7058025" y="1596019"/>
            <a:ext cx="4457700" cy="3418311"/>
          </a:xfrm>
          <a:prstGeom xmlns:a="http://schemas.openxmlformats.org/drawingml/2006/main" prst="rect">
            <a:avLst/>
          </a:prstGeom>
        </p:spPr>
      </p:pic>
      <p:sp>
        <p:nvSpPr>
          <p:cNvPr id="4" name="scene-8-item-3">
            <a:extLst xmlns:a="http://schemas.openxmlformats.org/drawingml/2006/main">
              <a:ext uri="{FF2B5EF4-FFF2-40B4-BE49-F238E27FC236}">
                <a16:creationId xmlns:a16="http://schemas.microsoft.com/office/drawing/2014/main" id="{74EC04E0-26D1-4EAB-B293-CBB25B49F6D0}"/>
              </a:ext>
            </a:extLst>
          </p:cNvPr>
          <p:cNvSpPr>
            <a:spLocks xmlns:a="http://schemas.openxmlformats.org/drawingml/2006/main" noGrp="1"/>
          </p:cNvSpPr>
          <p:nvPr/>
        </p:nvSpPr>
        <p:spPr>
          <a:xfrm xmlns:a="http://schemas.openxmlformats.org/drawingml/2006/main">
            <a:off x="742950" y="61912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97179"/>
                </a:solidFill>
                <a:latin typeface="Helvetica Neue"/>
                <a:ea typeface="Helvetica Neue"/>
                <a:cs typeface="Helvetica Neue"/>
              </a:defRPr>
            </a:defPPr>
          </a:lstStyle>
          <a:p xmlns:a="http://schemas.openxmlformats.org/drawingml/2006/main">
            <a:pPr algn="l">
              <a:defRPr sz="1500" b="0">
                <a:solidFill>
                  <a:srgbClr val="697179"/>
                </a:solidFill>
                <a:latin typeface="Helvetica Neue"/>
                <a:ea typeface="Helvetica Neue"/>
                <a:cs typeface="Helvetica Neue"/>
              </a:defRPr>
            </a:pPr>
            <a:r>
              <a:rPr sz="1500" b="0">
                <a:solidFill>
                  <a:srgbClr val="697179"/>
                </a:solidFill>
                <a:latin typeface="Helvetica Neue"/>
                <a:ea typeface="Helvetica Neue"/>
                <a:cs typeface="Helvetica Neue"/>
              </a:rPr>
              <a:t>Real road geometry. Simulated tracking events and courier movement.</a:t>
            </a:r>
          </a:p>
        </p:txBody>
      </p:sp>
    </p:spTree>
    <p:extLst>
      <p:ext uri="{BB962C8B-B14F-4D97-AF65-F5344CB8AC3E}">
        <p14:creationId xmlns:p14="http://schemas.microsoft.com/office/powerpoint/2010/main" val="1734843270"/>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899DDC35-E406-489A-BCCF-186555E6D35D}"/>
              </a:ext>
            </a:extLst>
          </p:cNvPr>
          <p:cNvSpPr>
            <a:spLocks xmlns:a="http://schemas.openxmlformats.org/drawingml/2006/main" noGrp="1"/>
          </p:cNvSpPr>
          <p:nvPr/>
        </p:nvSpPr>
        <p:spPr>
          <a:xfrm xmlns:a="http://schemas.openxmlformats.org/drawingml/2006/main">
            <a:off x="742950" y="876300"/>
            <a:ext cx="9429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17202A"/>
                </a:solidFill>
                <a:latin typeface="Helvetica Neue"/>
                <a:ea typeface="Helvetica Neue"/>
                <a:cs typeface="Helvetica Neue"/>
              </a:defRPr>
            </a:defPPr>
          </a:lstStyle>
          <a:p xmlns:a="http://schemas.openxmlformats.org/drawingml/2006/main">
            <a:pPr algn="l">
              <a:defRPr sz="6000" b="1">
                <a:solidFill>
                  <a:srgbClr val="17202A"/>
                </a:solidFill>
                <a:latin typeface="Helvetica Neue"/>
                <a:ea typeface="Helvetica Neue"/>
                <a:cs typeface="Helvetica Neue"/>
              </a:defRPr>
            </a:pPr>
            <a:r>
              <a:rPr sz="6000" b="1">
                <a:solidFill>
                  <a:srgbClr val="17202A"/>
                </a:solidFill>
                <a:latin typeface="Helvetica Neue"/>
                <a:ea typeface="Helvetica Neue"/>
                <a:cs typeface="Helvetica Neue"/>
              </a:rPr>
              <a:t>Even when</a:t>
            </a:r>
          </a:p>
          <a:p xmlns:a="http://schemas.openxmlformats.org/drawingml/2006/main">
            <a:pPr algn="l">
              <a:defRPr sz="6000" b="1">
                <a:solidFill>
                  <a:srgbClr val="17202A"/>
                </a:solidFill>
                <a:latin typeface="Helvetica Neue"/>
                <a:ea typeface="Helvetica Neue"/>
                <a:cs typeface="Helvetica Neue"/>
              </a:defRPr>
            </a:pPr>
            <a:r>
              <a:rPr sz="6000" b="1">
                <a:solidFill>
                  <a:srgbClr val="17202A"/>
                </a:solidFill>
                <a:latin typeface="Helvetica Neue"/>
                <a:ea typeface="Helvetica Neue"/>
                <a:cs typeface="Helvetica Neue"/>
              </a:rPr>
              <a:t>plans change</a:t>
            </a:r>
          </a:p>
        </p:txBody>
      </p:sp>
      <p:sp>
        <p:nvSpPr>
          <p:cNvPr id="2" name="scene-9-item-1">
            <a:extLst xmlns:a="http://schemas.openxmlformats.org/drawingml/2006/main">
              <a:ext uri="{FF2B5EF4-FFF2-40B4-BE49-F238E27FC236}">
                <a16:creationId xmlns:a16="http://schemas.microsoft.com/office/drawing/2014/main" id="{AF2E9CF3-12A0-4F0A-8215-C0D37FBA0B84}"/>
              </a:ext>
            </a:extLst>
          </p:cNvPr>
          <p:cNvSpPr>
            <a:spLocks xmlns:a="http://schemas.openxmlformats.org/drawingml/2006/main" noGrp="1"/>
          </p:cNvSpPr>
          <p:nvPr/>
        </p:nvSpPr>
        <p:spPr>
          <a:xfrm xmlns:a="http://schemas.openxmlformats.org/drawingml/2006/main">
            <a:off x="752475" y="3505200"/>
            <a:ext cx="4191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400" b="1">
                <a:solidFill>
                  <a:srgbClr val="367C62"/>
                </a:solidFill>
                <a:latin typeface="Helvetica Neue"/>
                <a:ea typeface="Helvetica Neue"/>
                <a:cs typeface="Helvetica Neue"/>
              </a:defRPr>
            </a:defPPr>
          </a:lstStyle>
          <a:p xmlns:a="http://schemas.openxmlformats.org/drawingml/2006/main">
            <a:pPr algn="l">
              <a:defRPr sz="8400" b="1">
                <a:solidFill>
                  <a:srgbClr val="367C62"/>
                </a:solidFill>
                <a:latin typeface="Helvetica Neue"/>
                <a:ea typeface="Helvetica Neue"/>
                <a:cs typeface="Helvetica Neue"/>
              </a:defRPr>
            </a:pPr>
            <a:r>
              <a:rPr sz="8400" b="1">
                <a:solidFill>
                  <a:srgbClr val="367C62"/>
                </a:solidFill>
                <a:latin typeface="Helvetica Neue"/>
                <a:ea typeface="Helvetica Neue"/>
                <a:cs typeface="Helvetica Neue"/>
              </a:rPr>
              <a:t>$30</a:t>
            </a:r>
          </a:p>
        </p:txBody>
      </p:sp>
      <p:sp>
        <p:nvSpPr>
          <p:cNvPr id="3" name="scene-9-item-2">
            <a:extLst xmlns:a="http://schemas.openxmlformats.org/drawingml/2006/main">
              <a:ext uri="{FF2B5EF4-FFF2-40B4-BE49-F238E27FC236}">
                <a16:creationId xmlns:a16="http://schemas.microsoft.com/office/drawing/2014/main" id="{28D40FC7-E18E-4829-BEAC-C1E084BB686F}"/>
              </a:ext>
            </a:extLst>
          </p:cNvPr>
          <p:cNvSpPr>
            <a:spLocks xmlns:a="http://schemas.openxmlformats.org/drawingml/2006/main" noGrp="1"/>
          </p:cNvSpPr>
          <p:nvPr/>
        </p:nvSpPr>
        <p:spPr>
          <a:xfrm xmlns:a="http://schemas.openxmlformats.org/drawingml/2006/main">
            <a:off x="819150" y="511492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697179"/>
                </a:solidFill>
                <a:latin typeface="Helvetica Neue"/>
                <a:ea typeface="Helvetica Neue"/>
                <a:cs typeface="Helvetica Neue"/>
              </a:defRPr>
            </a:defPPr>
          </a:lstStyle>
          <a:p xmlns:a="http://schemas.openxmlformats.org/drawingml/2006/main">
            <a:pPr algn="l">
              <a:defRPr sz="2400" b="0">
                <a:solidFill>
                  <a:srgbClr val="697179"/>
                </a:solidFill>
                <a:latin typeface="Helvetica Neue"/>
                <a:ea typeface="Helvetica Neue"/>
                <a:cs typeface="Helvetica Neue"/>
              </a:defRPr>
            </a:pPr>
            <a:r>
              <a:rPr sz="2400" b="0">
                <a:solidFill>
                  <a:srgbClr val="697179"/>
                </a:solidFill>
                <a:latin typeface="Helvetica Neue"/>
                <a:ea typeface="Helvetica Neue"/>
                <a:cs typeface="Helvetica Neue"/>
              </a:rPr>
              <a:t>store-credit bonus</a:t>
            </a:r>
          </a:p>
        </p:txBody>
      </p:sp>
      <p:pic>
        <p:nvPicPr>
          <p:cNvPr id="4" name="!!ReturnScreenshot">
            <a:extLst xmlns:a="http://schemas.openxmlformats.org/drawingml/2006/main">
              <a:ext uri="{FF2B5EF4-FFF2-40B4-BE49-F238E27FC236}">
                <a16:creationId xmlns:a16="http://schemas.microsoft.com/office/drawing/2014/main" id="{B391550D-2F13-4576-B9AC-B5D0D7F393FF}"/>
              </a:ext>
            </a:extLst>
          </p:cNvPr>
          <p:cNvPicPr>
            <a:picLocks xmlns:a="http://schemas.openxmlformats.org/drawingml/2006/main" noChangeAspect="1"/>
          </p:cNvPicPr>
          <p:nvPr/>
        </p:nvPicPr>
        <p:blipFill>
          <a:blip xmlns:r="http://schemas.openxmlformats.org/officeDocument/2006/relationships" xmlns:a="http://schemas.openxmlformats.org/drawingml/2006/main" r:embed="Re1a0f0113eba4dc5"/>
          <a:stretch xmlns:a="http://schemas.openxmlformats.org/drawingml/2006/main"/>
        </p:blipFill>
        <p:spPr>
          <a:xfrm xmlns:a="http://schemas.openxmlformats.org/drawingml/2006/main">
            <a:off x="6305550" y="3744660"/>
            <a:ext cx="5229225" cy="1559430"/>
          </a:xfrm>
          <a:prstGeom xmlns:a="http://schemas.openxmlformats.org/drawingml/2006/main" prst="rect">
            <a:avLst/>
          </a:prstGeom>
        </p:spPr>
      </p:pic>
      <p:sp>
        <p:nvSpPr>
          <p:cNvPr id="5" name="scene-9-item-4">
            <a:extLst xmlns:a="http://schemas.openxmlformats.org/drawingml/2006/main">
              <a:ext uri="{FF2B5EF4-FFF2-40B4-BE49-F238E27FC236}">
                <a16:creationId xmlns:a16="http://schemas.microsoft.com/office/drawing/2014/main" id="{123E3170-2D6B-451B-9C77-776167DAF783}"/>
              </a:ext>
            </a:extLst>
          </p:cNvPr>
          <p:cNvSpPr>
            <a:spLocks xmlns:a="http://schemas.openxmlformats.org/drawingml/2006/main" noGrp="1"/>
          </p:cNvSpPr>
          <p:nvPr/>
        </p:nvSpPr>
        <p:spPr>
          <a:xfrm xmlns:a="http://schemas.openxmlformats.org/drawingml/2006/main">
            <a:off x="742950" y="61912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97179"/>
                </a:solidFill>
                <a:latin typeface="Helvetica Neue"/>
                <a:ea typeface="Helvetica Neue"/>
                <a:cs typeface="Helvetica Neue"/>
              </a:defRPr>
            </a:defPPr>
          </a:lstStyle>
          <a:p xmlns:a="http://schemas.openxmlformats.org/drawingml/2006/main">
            <a:pPr algn="l">
              <a:defRPr sz="1500" b="0">
                <a:solidFill>
                  <a:srgbClr val="697179"/>
                </a:solidFill>
                <a:latin typeface="Helvetica Neue"/>
                <a:ea typeface="Helvetica Neue"/>
                <a:cs typeface="Helvetica Neue"/>
              </a:defRPr>
            </a:pPr>
            <a:r>
              <a:rPr sz="1500" b="0">
                <a:solidFill>
                  <a:srgbClr val="697179"/>
                </a:solidFill>
                <a:latin typeface="Helvetica Neue"/>
                <a:ea typeface="Helvetica Neue"/>
                <a:cs typeface="Helvetica Neue"/>
              </a:rPr>
              <a:t>Illustrative return negotiation. Non-cash resolution requires human approval.</a:t>
            </a:r>
          </a:p>
        </p:txBody>
      </p:sp>
    </p:spTree>
    <p:extLst>
      <p:ext uri="{BB962C8B-B14F-4D97-AF65-F5344CB8AC3E}">
        <p14:creationId xmlns:p14="http://schemas.microsoft.com/office/powerpoint/2010/main" val="606800830"/>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23202C08-F53F-4977-AC60-F46DE78A3944}"/>
              </a:ext>
            </a:extLst>
          </p:cNvPr>
          <p:cNvSpPr>
            <a:spLocks xmlns:a="http://schemas.openxmlformats.org/drawingml/2006/main" noGrp="1"/>
          </p:cNvSpPr>
          <p:nvPr/>
        </p:nvSpPr>
        <p:spPr>
          <a:xfrm xmlns:a="http://schemas.openxmlformats.org/drawingml/2006/main">
            <a:off x="742950" y="752475"/>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400" b="1">
                <a:solidFill>
                  <a:srgbClr val="17202A"/>
                </a:solidFill>
                <a:latin typeface="Helvetica Neue"/>
                <a:ea typeface="Helvetica Neue"/>
                <a:cs typeface="Helvetica Neue"/>
              </a:defRPr>
            </a:defPPr>
          </a:lstStyle>
          <a:p xmlns:a="http://schemas.openxmlformats.org/drawingml/2006/main">
            <a:pPr algn="l">
              <a:defRPr sz="5400" b="1">
                <a:solidFill>
                  <a:srgbClr val="17202A"/>
                </a:solidFill>
                <a:latin typeface="Helvetica Neue"/>
                <a:ea typeface="Helvetica Neue"/>
                <a:cs typeface="Helvetica Neue"/>
              </a:defRPr>
            </a:pPr>
            <a:r>
              <a:rPr sz="5400" b="1">
                <a:solidFill>
                  <a:srgbClr val="17202A"/>
                </a:solidFill>
                <a:latin typeface="Helvetica Neue"/>
                <a:ea typeface="Helvetica Neue"/>
                <a:cs typeface="Helvetica Neue"/>
              </a:rPr>
              <a:t>Conversion.</a:t>
            </a:r>
          </a:p>
          <a:p xmlns:a="http://schemas.openxmlformats.org/drawingml/2006/main">
            <a:pPr algn="l">
              <a:defRPr sz="5400" b="1">
                <a:solidFill>
                  <a:srgbClr val="17202A"/>
                </a:solidFill>
                <a:latin typeface="Helvetica Neue"/>
                <a:ea typeface="Helvetica Neue"/>
                <a:cs typeface="Helvetica Neue"/>
              </a:defRPr>
            </a:pPr>
            <a:r>
              <a:rPr sz="5400" b="1">
                <a:solidFill>
                  <a:srgbClr val="17202A"/>
                </a:solidFill>
                <a:latin typeface="Helvetica Neue"/>
                <a:ea typeface="Helvetica Neue"/>
                <a:cs typeface="Helvetica Neue"/>
              </a:rPr>
              <a:t>With profit protected.</a:t>
            </a:r>
          </a:p>
        </p:txBody>
      </p:sp>
      <p:sp>
        <p:nvSpPr>
          <p:cNvPr id="2" name="!!ProfitFloor">
            <a:extLst xmlns:a="http://schemas.openxmlformats.org/drawingml/2006/main">
              <a:ext uri="{FF2B5EF4-FFF2-40B4-BE49-F238E27FC236}">
                <a16:creationId xmlns:a16="http://schemas.microsoft.com/office/drawing/2014/main" id="{5741BC48-6D82-4BB3-A444-ACE7D328A093}"/>
              </a:ext>
            </a:extLst>
          </p:cNvPr>
          <p:cNvSpPr>
            <a:spLocks xmlns:a="http://schemas.openxmlformats.org/drawingml/2006/main" noGrp="1"/>
          </p:cNvSpPr>
          <p:nvPr/>
        </p:nvSpPr>
        <p:spPr>
          <a:xfrm xmlns:a="http://schemas.openxmlformats.org/drawingml/2006/main">
            <a:off x="733425" y="3219450"/>
            <a:ext cx="4667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625" b="1">
                <a:solidFill>
                  <a:srgbClr val="A76728"/>
                </a:solidFill>
                <a:latin typeface="Helvetica Neue"/>
                <a:ea typeface="Helvetica Neue"/>
                <a:cs typeface="Helvetica Neue"/>
              </a:defRPr>
            </a:defPPr>
          </a:lstStyle>
          <a:p xmlns:a="http://schemas.openxmlformats.org/drawingml/2006/main">
            <a:pPr algn="l">
              <a:defRPr sz="8625" b="1">
                <a:solidFill>
                  <a:srgbClr val="A76728"/>
                </a:solidFill>
                <a:latin typeface="Helvetica Neue"/>
                <a:ea typeface="Helvetica Neue"/>
                <a:cs typeface="Helvetica Neue"/>
              </a:defRPr>
            </a:pPr>
            <a:r>
              <a:rPr sz="8625" b="1">
                <a:solidFill>
                  <a:srgbClr val="A76728"/>
                </a:solidFill>
                <a:latin typeface="Helvetica Neue"/>
                <a:ea typeface="Helvetica Neue"/>
                <a:cs typeface="Helvetica Neue"/>
              </a:rPr>
              <a:t>18%</a:t>
            </a:r>
          </a:p>
        </p:txBody>
      </p:sp>
      <p:sp>
        <p:nvSpPr>
          <p:cNvPr id="3" name="scene-10-item-2">
            <a:extLst xmlns:a="http://schemas.openxmlformats.org/drawingml/2006/main">
              <a:ext uri="{FF2B5EF4-FFF2-40B4-BE49-F238E27FC236}">
                <a16:creationId xmlns:a16="http://schemas.microsoft.com/office/drawing/2014/main" id="{043314E3-EF17-4A2B-A79E-FB7D936AFACE}"/>
              </a:ext>
            </a:extLst>
          </p:cNvPr>
          <p:cNvSpPr>
            <a:spLocks xmlns:a="http://schemas.openxmlformats.org/drawingml/2006/main" noGrp="1"/>
          </p:cNvSpPr>
          <p:nvPr/>
        </p:nvSpPr>
        <p:spPr>
          <a:xfrm xmlns:a="http://schemas.openxmlformats.org/drawingml/2006/main">
            <a:off x="819150" y="4829175"/>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697179"/>
                </a:solidFill>
                <a:latin typeface="Helvetica Neue"/>
                <a:ea typeface="Helvetica Neue"/>
                <a:cs typeface="Helvetica Neue"/>
              </a:defRPr>
            </a:defPPr>
          </a:lstStyle>
          <a:p xmlns:a="http://schemas.openxmlformats.org/drawingml/2006/main">
            <a:pPr algn="l">
              <a:defRPr sz="2325" b="0">
                <a:solidFill>
                  <a:srgbClr val="697179"/>
                </a:solidFill>
                <a:latin typeface="Helvetica Neue"/>
                <a:ea typeface="Helvetica Neue"/>
                <a:cs typeface="Helvetica Neue"/>
              </a:defRPr>
            </a:pPr>
            <a:r>
              <a:rPr sz="2325" b="0">
                <a:solidFill>
                  <a:srgbClr val="697179"/>
                </a:solidFill>
                <a:latin typeface="Helvetica Neue"/>
                <a:ea typeface="Helvetica Neue"/>
                <a:cs typeface="Helvetica Neue"/>
              </a:rPr>
              <a:t>merchant minimum</a:t>
            </a:r>
          </a:p>
        </p:txBody>
      </p:sp>
      <p:sp>
        <p:nvSpPr>
          <p:cNvPr id="4" name="scene-10-item-3">
            <a:extLst xmlns:a="http://schemas.openxmlformats.org/drawingml/2006/main">
              <a:ext uri="{FF2B5EF4-FFF2-40B4-BE49-F238E27FC236}">
                <a16:creationId xmlns:a16="http://schemas.microsoft.com/office/drawing/2014/main" id="{E878FC1B-4A12-448B-9C6E-0F0AA19266DF}"/>
              </a:ext>
            </a:extLst>
          </p:cNvPr>
          <p:cNvSpPr>
            <a:spLocks xmlns:a="http://schemas.openxmlformats.org/drawingml/2006/main" noGrp="1"/>
          </p:cNvSpPr>
          <p:nvPr/>
        </p:nvSpPr>
        <p:spPr>
          <a:xfrm xmlns:a="http://schemas.openxmlformats.org/drawingml/2006/main">
            <a:off x="6753225" y="3219450"/>
            <a:ext cx="47053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625" b="1">
                <a:solidFill>
                  <a:srgbClr val="367C62"/>
                </a:solidFill>
                <a:latin typeface="Helvetica Neue"/>
                <a:ea typeface="Helvetica Neue"/>
                <a:cs typeface="Helvetica Neue"/>
              </a:defRPr>
            </a:defPPr>
          </a:lstStyle>
          <a:p xmlns:a="http://schemas.openxmlformats.org/drawingml/2006/main">
            <a:pPr algn="l">
              <a:defRPr sz="8625" b="1">
                <a:solidFill>
                  <a:srgbClr val="367C62"/>
                </a:solidFill>
                <a:latin typeface="Helvetica Neue"/>
                <a:ea typeface="Helvetica Neue"/>
                <a:cs typeface="Helvetica Neue"/>
              </a:defRPr>
            </a:pPr>
            <a:r>
              <a:rPr sz="8625" b="1">
                <a:solidFill>
                  <a:srgbClr val="367C62"/>
                </a:solidFill>
                <a:latin typeface="Helvetica Neue"/>
                <a:ea typeface="Helvetica Neue"/>
                <a:cs typeface="Helvetica Neue"/>
              </a:rPr>
              <a:t>19.7%</a:t>
            </a:r>
          </a:p>
        </p:txBody>
      </p:sp>
      <p:sp>
        <p:nvSpPr>
          <p:cNvPr id="5" name="scene-10-item-4">
            <a:extLst xmlns:a="http://schemas.openxmlformats.org/drawingml/2006/main">
              <a:ext uri="{FF2B5EF4-FFF2-40B4-BE49-F238E27FC236}">
                <a16:creationId xmlns:a16="http://schemas.microsoft.com/office/drawing/2014/main" id="{7B7E355F-DE2A-4495-ABB9-EC6CC3262519}"/>
              </a:ext>
            </a:extLst>
          </p:cNvPr>
          <p:cNvSpPr>
            <a:spLocks xmlns:a="http://schemas.openxmlformats.org/drawingml/2006/main" noGrp="1"/>
          </p:cNvSpPr>
          <p:nvPr/>
        </p:nvSpPr>
        <p:spPr>
          <a:xfrm xmlns:a="http://schemas.openxmlformats.org/drawingml/2006/main">
            <a:off x="6819900" y="4829175"/>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697179"/>
                </a:solidFill>
                <a:latin typeface="Helvetica Neue"/>
                <a:ea typeface="Helvetica Neue"/>
                <a:cs typeface="Helvetica Neue"/>
              </a:defRPr>
            </a:defPPr>
          </a:lstStyle>
          <a:p xmlns:a="http://schemas.openxmlformats.org/drawingml/2006/main">
            <a:pPr algn="l">
              <a:defRPr sz="2325" b="0">
                <a:solidFill>
                  <a:srgbClr val="697179"/>
                </a:solidFill>
                <a:latin typeface="Helvetica Neue"/>
                <a:ea typeface="Helvetica Neue"/>
                <a:cs typeface="Helvetica Neue"/>
              </a:defRPr>
            </a:pPr>
            <a:r>
              <a:rPr sz="2325" b="0">
                <a:solidFill>
                  <a:srgbClr val="697179"/>
                </a:solidFill>
                <a:latin typeface="Helvetica Neue"/>
                <a:ea typeface="Helvetica Neue"/>
                <a:cs typeface="Helvetica Neue"/>
              </a:rPr>
              <a:t>in the illustrated deal</a:t>
            </a:r>
          </a:p>
        </p:txBody>
      </p:sp>
      <p:sp>
        <p:nvSpPr>
          <p:cNvPr id="6" name="scene-10-item-5">
            <a:extLst xmlns:a="http://schemas.openxmlformats.org/drawingml/2006/main">
              <a:ext uri="{FF2B5EF4-FFF2-40B4-BE49-F238E27FC236}">
                <a16:creationId xmlns:a16="http://schemas.microsoft.com/office/drawing/2014/main" id="{45FB14D1-8895-4E09-A279-0D85B691FA60}"/>
              </a:ext>
            </a:extLst>
          </p:cNvPr>
          <p:cNvSpPr>
            <a:spLocks xmlns:a="http://schemas.openxmlformats.org/drawingml/2006/main" noGrp="1"/>
          </p:cNvSpPr>
          <p:nvPr/>
        </p:nvSpPr>
        <p:spPr>
          <a:xfrm xmlns:a="http://schemas.openxmlformats.org/drawingml/2006/main">
            <a:off x="742950" y="61912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97179"/>
                </a:solidFill>
                <a:latin typeface="Helvetica Neue"/>
                <a:ea typeface="Helvetica Neue"/>
                <a:cs typeface="Helvetica Neue"/>
              </a:defRPr>
            </a:defPPr>
          </a:lstStyle>
          <a:p xmlns:a="http://schemas.openxmlformats.org/drawingml/2006/main">
            <a:pPr algn="l">
              <a:defRPr sz="1500" b="0">
                <a:solidFill>
                  <a:srgbClr val="697179"/>
                </a:solidFill>
                <a:latin typeface="Helvetica Neue"/>
                <a:ea typeface="Helvetica Neue"/>
                <a:cs typeface="Helvetica Neue"/>
              </a:defRPr>
            </a:pPr>
            <a:r>
              <a:rPr sz="1500" b="0">
                <a:solidFill>
                  <a:srgbClr val="697179"/>
                </a:solidFill>
                <a:latin typeface="Helvetica Neue"/>
                <a:ea typeface="Helvetica Neue"/>
                <a:cs typeface="Helvetica Neue"/>
              </a:rPr>
              <a:t>Demo model after product and deal costs. Conversion uplift still needs a pilot.</a:t>
            </a:r>
          </a:p>
        </p:txBody>
      </p:sp>
    </p:spTree>
    <p:extLst>
      <p:ext uri="{BB962C8B-B14F-4D97-AF65-F5344CB8AC3E}">
        <p14:creationId xmlns:p14="http://schemas.microsoft.com/office/powerpoint/2010/main" val="697871061"/>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175C837A-9DE6-4628-90A3-A6B49861005B}"/>
              </a:ext>
            </a:extLst>
          </p:cNvPr>
          <p:cNvSpPr>
            <a:spLocks xmlns:a="http://schemas.openxmlformats.org/drawingml/2006/main" noGrp="1"/>
          </p:cNvSpPr>
          <p:nvPr/>
        </p:nvSpPr>
        <p:spPr>
          <a:xfrm xmlns:a="http://schemas.openxmlformats.org/drawingml/2006/main">
            <a:off x="742950" y="62865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150" b="1">
                <a:solidFill>
                  <a:srgbClr val="17202A"/>
                </a:solidFill>
                <a:latin typeface="Helvetica Neue"/>
                <a:ea typeface="Helvetica Neue"/>
                <a:cs typeface="Helvetica Neue"/>
              </a:defRPr>
            </a:defPPr>
          </a:lstStyle>
          <a:p xmlns:a="http://schemas.openxmlformats.org/drawingml/2006/main">
            <a:pPr algn="l">
              <a:defRPr sz="6150" b="1">
                <a:solidFill>
                  <a:srgbClr val="17202A"/>
                </a:solidFill>
                <a:latin typeface="Helvetica Neue"/>
                <a:ea typeface="Helvetica Neue"/>
                <a:cs typeface="Helvetica Neue"/>
              </a:defRPr>
            </a:pPr>
            <a:r>
              <a:rPr sz="6150" b="1">
                <a:solidFill>
                  <a:srgbClr val="17202A"/>
                </a:solidFill>
                <a:latin typeface="Helvetica Neue"/>
                <a:ea typeface="Helvetica Neue"/>
                <a:cs typeface="Helvetica Neue"/>
              </a:rPr>
              <a:t>Built to act</a:t>
            </a:r>
          </a:p>
        </p:txBody>
      </p:sp>
      <p:sp>
        <p:nvSpPr>
          <p:cNvPr id="2" name="scene-11-item-1">
            <a:extLst xmlns:a="http://schemas.openxmlformats.org/drawingml/2006/main">
              <a:ext uri="{FF2B5EF4-FFF2-40B4-BE49-F238E27FC236}">
                <a16:creationId xmlns:a16="http://schemas.microsoft.com/office/drawing/2014/main" id="{321939B4-ED30-49BE-B3D2-BF65A2A0E4E3}"/>
              </a:ext>
            </a:extLst>
          </p:cNvPr>
          <p:cNvSpPr>
            <a:spLocks xmlns:a="http://schemas.openxmlformats.org/drawingml/2006/main" noGrp="1"/>
          </p:cNvSpPr>
          <p:nvPr/>
        </p:nvSpPr>
        <p:spPr>
          <a:xfrm xmlns:a="http://schemas.openxmlformats.org/drawingml/2006/main">
            <a:off x="781050" y="245745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500" b="1">
                <a:solidFill>
                  <a:srgbClr val="A76728"/>
                </a:solidFill>
                <a:latin typeface="Helvetica Neue"/>
                <a:ea typeface="Helvetica Neue"/>
                <a:cs typeface="Helvetica Neue"/>
              </a:defRPr>
            </a:defPPr>
          </a:lstStyle>
          <a:p xmlns:a="http://schemas.openxmlformats.org/drawingml/2006/main">
            <a:pPr algn="l">
              <a:defRPr sz="4500" b="1">
                <a:solidFill>
                  <a:srgbClr val="A76728"/>
                </a:solidFill>
                <a:latin typeface="Helvetica Neue"/>
                <a:ea typeface="Helvetica Neue"/>
                <a:cs typeface="Helvetica Neue"/>
              </a:defRPr>
            </a:pPr>
            <a:r>
              <a:rPr sz="4500" b="1">
                <a:solidFill>
                  <a:srgbClr val="A76728"/>
                </a:solidFill>
                <a:latin typeface="Helvetica Neue"/>
                <a:ea typeface="Helvetica Neue"/>
                <a:cs typeface="Helvetica Neue"/>
              </a:rPr>
              <a:t>ZooWork</a:t>
            </a:r>
          </a:p>
        </p:txBody>
      </p:sp>
      <p:sp>
        <p:nvSpPr>
          <p:cNvPr id="3" name="scene-11-item-2">
            <a:extLst xmlns:a="http://schemas.openxmlformats.org/drawingml/2006/main">
              <a:ext uri="{FF2B5EF4-FFF2-40B4-BE49-F238E27FC236}">
                <a16:creationId xmlns:a16="http://schemas.microsoft.com/office/drawing/2014/main" id="{31DAACEE-FBDA-4B19-8711-0D29272E0218}"/>
              </a:ext>
            </a:extLst>
          </p:cNvPr>
          <p:cNvSpPr>
            <a:spLocks xmlns:a="http://schemas.openxmlformats.org/drawingml/2006/main" noGrp="1"/>
          </p:cNvSpPr>
          <p:nvPr/>
        </p:nvSpPr>
        <p:spPr>
          <a:xfrm xmlns:a="http://schemas.openxmlformats.org/drawingml/2006/main">
            <a:off x="819150" y="3238500"/>
            <a:ext cx="676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697179"/>
                </a:solidFill>
                <a:latin typeface="Helvetica Neue"/>
                <a:ea typeface="Helvetica Neue"/>
                <a:cs typeface="Helvetica Neue"/>
              </a:defRPr>
            </a:defPPr>
          </a:lstStyle>
          <a:p xmlns:a="http://schemas.openxmlformats.org/drawingml/2006/main">
            <a:pPr algn="l">
              <a:defRPr sz="2175" b="0">
                <a:solidFill>
                  <a:srgbClr val="697179"/>
                </a:solidFill>
                <a:latin typeface="Helvetica Neue"/>
                <a:ea typeface="Helvetica Neue"/>
                <a:cs typeface="Helvetica Neue"/>
              </a:defRPr>
            </a:pPr>
            <a:r>
              <a:rPr sz="2175" b="0">
                <a:solidFill>
                  <a:srgbClr val="697179"/>
                </a:solidFill>
                <a:latin typeface="Helvetica Neue"/>
                <a:ea typeface="Helvetica Neue"/>
                <a:cs typeface="Helvetica Neue"/>
              </a:rPr>
              <a:t>Merchant runtime</a:t>
            </a:r>
          </a:p>
        </p:txBody>
      </p:sp>
      <p:sp>
        <p:nvSpPr>
          <p:cNvPr id="4" name="scene-11-item-3">
            <a:extLst xmlns:a="http://schemas.openxmlformats.org/drawingml/2006/main">
              <a:ext uri="{FF2B5EF4-FFF2-40B4-BE49-F238E27FC236}">
                <a16:creationId xmlns:a16="http://schemas.microsoft.com/office/drawing/2014/main" id="{2363482A-4CBF-43A7-A3DF-F186C8884B29}"/>
              </a:ext>
            </a:extLst>
          </p:cNvPr>
          <p:cNvSpPr>
            <a:spLocks xmlns:a="http://schemas.openxmlformats.org/drawingml/2006/main" noGrp="1"/>
          </p:cNvSpPr>
          <p:nvPr/>
        </p:nvSpPr>
        <p:spPr>
          <a:xfrm xmlns:a="http://schemas.openxmlformats.org/drawingml/2006/main">
            <a:off x="781050" y="4391025"/>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500" b="1">
                <a:solidFill>
                  <a:srgbClr val="3669AE"/>
                </a:solidFill>
                <a:latin typeface="Helvetica Neue"/>
                <a:ea typeface="Helvetica Neue"/>
                <a:cs typeface="Helvetica Neue"/>
              </a:defRPr>
            </a:defPPr>
          </a:lstStyle>
          <a:p xmlns:a="http://schemas.openxmlformats.org/drawingml/2006/main">
            <a:pPr algn="l">
              <a:defRPr sz="4500" b="1">
                <a:solidFill>
                  <a:srgbClr val="3669AE"/>
                </a:solidFill>
                <a:latin typeface="Helvetica Neue"/>
                <a:ea typeface="Helvetica Neue"/>
                <a:cs typeface="Helvetica Neue"/>
              </a:defRPr>
            </a:pPr>
            <a:r>
              <a:rPr sz="4500" b="1">
                <a:solidFill>
                  <a:srgbClr val="3669AE"/>
                </a:solidFill>
                <a:latin typeface="Helvetica Neue"/>
                <a:ea typeface="Helvetica Neue"/>
                <a:cs typeface="Helvetica Neue"/>
              </a:rPr>
              <a:t>BAND</a:t>
            </a:r>
          </a:p>
        </p:txBody>
      </p:sp>
      <p:sp>
        <p:nvSpPr>
          <p:cNvPr id="5" name="scene-11-item-4">
            <a:extLst xmlns:a="http://schemas.openxmlformats.org/drawingml/2006/main">
              <a:ext uri="{FF2B5EF4-FFF2-40B4-BE49-F238E27FC236}">
                <a16:creationId xmlns:a16="http://schemas.microsoft.com/office/drawing/2014/main" id="{F8822060-C725-4D8C-B2A0-DA3C97DA364A}"/>
              </a:ext>
            </a:extLst>
          </p:cNvPr>
          <p:cNvSpPr>
            <a:spLocks xmlns:a="http://schemas.openxmlformats.org/drawingml/2006/main" noGrp="1"/>
          </p:cNvSpPr>
          <p:nvPr/>
        </p:nvSpPr>
        <p:spPr>
          <a:xfrm xmlns:a="http://schemas.openxmlformats.org/drawingml/2006/main">
            <a:off x="819150" y="5172075"/>
            <a:ext cx="676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697179"/>
                </a:solidFill>
                <a:latin typeface="Helvetica Neue"/>
                <a:ea typeface="Helvetica Neue"/>
                <a:cs typeface="Helvetica Neue"/>
              </a:defRPr>
            </a:defPPr>
          </a:lstStyle>
          <a:p xmlns:a="http://schemas.openxmlformats.org/drawingml/2006/main">
            <a:pPr algn="l">
              <a:defRPr sz="2175" b="0">
                <a:solidFill>
                  <a:srgbClr val="697179"/>
                </a:solidFill>
                <a:latin typeface="Helvetica Neue"/>
                <a:ea typeface="Helvetica Neue"/>
                <a:cs typeface="Helvetica Neue"/>
              </a:defRPr>
            </a:pPr>
            <a:r>
              <a:rPr sz="2175" b="0">
                <a:solidFill>
                  <a:srgbClr val="697179"/>
                </a:solidFill>
                <a:latin typeface="Helvetica Neue"/>
                <a:ea typeface="Helvetica Neue"/>
                <a:cs typeface="Helvetica Neue"/>
              </a:rPr>
              <a:t>Agent negotiation rooms</a:t>
            </a:r>
          </a:p>
        </p:txBody>
      </p:sp>
      <p:sp>
        <p:nvSpPr>
          <p:cNvPr id="6" name="scene-11-item-5">
            <a:extLst xmlns:a="http://schemas.openxmlformats.org/drawingml/2006/main">
              <a:ext uri="{FF2B5EF4-FFF2-40B4-BE49-F238E27FC236}">
                <a16:creationId xmlns:a16="http://schemas.microsoft.com/office/drawing/2014/main" id="{EB8B74F4-D053-4E40-B64B-A93A977466CB}"/>
              </a:ext>
            </a:extLst>
          </p:cNvPr>
          <p:cNvSpPr>
            <a:spLocks xmlns:a="http://schemas.openxmlformats.org/drawingml/2006/main" noGrp="1"/>
          </p:cNvSpPr>
          <p:nvPr/>
        </p:nvSpPr>
        <p:spPr>
          <a:xfrm xmlns:a="http://schemas.openxmlformats.org/drawingml/2006/main">
            <a:off x="7705725" y="2457450"/>
            <a:ext cx="3695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500" b="1">
                <a:solidFill>
                  <a:srgbClr val="367C62"/>
                </a:solidFill>
                <a:latin typeface="Helvetica Neue"/>
                <a:ea typeface="Helvetica Neue"/>
                <a:cs typeface="Helvetica Neue"/>
              </a:defRPr>
            </a:defPPr>
          </a:lstStyle>
          <a:p xmlns:a="http://schemas.openxmlformats.org/drawingml/2006/main">
            <a:pPr algn="l">
              <a:defRPr sz="4500" b="1">
                <a:solidFill>
                  <a:srgbClr val="367C62"/>
                </a:solidFill>
                <a:latin typeface="Helvetica Neue"/>
                <a:ea typeface="Helvetica Neue"/>
                <a:cs typeface="Helvetica Neue"/>
              </a:defRPr>
            </a:pPr>
            <a:r>
              <a:rPr sz="4500" b="1">
                <a:solidFill>
                  <a:srgbClr val="367C62"/>
                </a:solidFill>
                <a:latin typeface="Helvetica Neue"/>
                <a:ea typeface="Helvetica Neue"/>
                <a:cs typeface="Helvetica Neue"/>
              </a:rPr>
              <a:t>Jev</a:t>
            </a:r>
          </a:p>
        </p:txBody>
      </p:sp>
      <p:sp>
        <p:nvSpPr>
          <p:cNvPr id="7" name="scene-11-item-6">
            <a:extLst xmlns:a="http://schemas.openxmlformats.org/drawingml/2006/main">
              <a:ext uri="{FF2B5EF4-FFF2-40B4-BE49-F238E27FC236}">
                <a16:creationId xmlns:a16="http://schemas.microsoft.com/office/drawing/2014/main" id="{EA38DE36-3342-4F64-AFB9-0D28B0943F21}"/>
              </a:ext>
            </a:extLst>
          </p:cNvPr>
          <p:cNvSpPr>
            <a:spLocks xmlns:a="http://schemas.openxmlformats.org/drawingml/2006/main" noGrp="1"/>
          </p:cNvSpPr>
          <p:nvPr/>
        </p:nvSpPr>
        <p:spPr>
          <a:xfrm xmlns:a="http://schemas.openxmlformats.org/drawingml/2006/main">
            <a:off x="7753350" y="3238500"/>
            <a:ext cx="3638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697179"/>
                </a:solidFill>
                <a:latin typeface="Helvetica Neue"/>
                <a:ea typeface="Helvetica Neue"/>
                <a:cs typeface="Helvetica Neue"/>
              </a:defRPr>
            </a:defPPr>
          </a:lstStyle>
          <a:p xmlns:a="http://schemas.openxmlformats.org/drawingml/2006/main">
            <a:pPr algn="l">
              <a:defRPr sz="2175" b="0">
                <a:solidFill>
                  <a:srgbClr val="697179"/>
                </a:solidFill>
                <a:latin typeface="Helvetica Neue"/>
                <a:ea typeface="Helvetica Neue"/>
                <a:cs typeface="Helvetica Neue"/>
              </a:defRPr>
            </a:pPr>
            <a:r>
              <a:rPr sz="2175" b="0">
                <a:solidFill>
                  <a:srgbClr val="697179"/>
                </a:solidFill>
                <a:latin typeface="Helvetica Neue"/>
                <a:ea typeface="Helvetica Neue"/>
                <a:cs typeface="Helvetica Neue"/>
              </a:rPr>
              <a:t>Authority gate</a:t>
            </a:r>
          </a:p>
        </p:txBody>
      </p:sp>
      <p:sp>
        <p:nvSpPr>
          <p:cNvPr id="8" name="scene-11-item-7">
            <a:extLst xmlns:a="http://schemas.openxmlformats.org/drawingml/2006/main">
              <a:ext uri="{FF2B5EF4-FFF2-40B4-BE49-F238E27FC236}">
                <a16:creationId xmlns:a16="http://schemas.microsoft.com/office/drawing/2014/main" id="{28ED18CF-89E7-4707-9AE6-32C72DCFCC86}"/>
              </a:ext>
            </a:extLst>
          </p:cNvPr>
          <p:cNvSpPr>
            <a:spLocks xmlns:a="http://schemas.openxmlformats.org/drawingml/2006/main" noGrp="1"/>
          </p:cNvSpPr>
          <p:nvPr/>
        </p:nvSpPr>
        <p:spPr>
          <a:xfrm xmlns:a="http://schemas.openxmlformats.org/drawingml/2006/main">
            <a:off x="7705725" y="4391025"/>
            <a:ext cx="3695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17202A"/>
                </a:solidFill>
                <a:latin typeface="Helvetica Neue"/>
                <a:ea typeface="Helvetica Neue"/>
                <a:cs typeface="Helvetica Neue"/>
              </a:defRPr>
            </a:defPPr>
          </a:lstStyle>
          <a:p xmlns:a="http://schemas.openxmlformats.org/drawingml/2006/main">
            <a:pPr algn="l">
              <a:defRPr sz="3000" b="1">
                <a:solidFill>
                  <a:srgbClr val="17202A"/>
                </a:solidFill>
                <a:latin typeface="Helvetica Neue"/>
                <a:ea typeface="Helvetica Neue"/>
                <a:cs typeface="Helvetica Neue"/>
              </a:defRPr>
            </a:pPr>
            <a:r>
              <a:rPr sz="3000" b="1">
                <a:solidFill>
                  <a:srgbClr val="17202A"/>
                </a:solidFill>
                <a:latin typeface="Helvetica Neue"/>
                <a:ea typeface="Helvetica Neue"/>
                <a:cs typeface="Helvetica Neue"/>
              </a:rPr>
              <a:t>Tavily + Moss</a:t>
            </a:r>
          </a:p>
        </p:txBody>
      </p:sp>
      <p:sp>
        <p:nvSpPr>
          <p:cNvPr id="9" name="scene-11-item-8">
            <a:extLst xmlns:a="http://schemas.openxmlformats.org/drawingml/2006/main">
              <a:ext uri="{FF2B5EF4-FFF2-40B4-BE49-F238E27FC236}">
                <a16:creationId xmlns:a16="http://schemas.microsoft.com/office/drawing/2014/main" id="{88EE14BF-9CB3-40E5-A9CC-5CD977C44706}"/>
              </a:ext>
            </a:extLst>
          </p:cNvPr>
          <p:cNvSpPr>
            <a:spLocks xmlns:a="http://schemas.openxmlformats.org/drawingml/2006/main" noGrp="1"/>
          </p:cNvSpPr>
          <p:nvPr/>
        </p:nvSpPr>
        <p:spPr>
          <a:xfrm xmlns:a="http://schemas.openxmlformats.org/drawingml/2006/main">
            <a:off x="7753350" y="5172075"/>
            <a:ext cx="3638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697179"/>
                </a:solidFill>
                <a:latin typeface="Helvetica Neue"/>
                <a:ea typeface="Helvetica Neue"/>
                <a:cs typeface="Helvetica Neue"/>
              </a:defRPr>
            </a:defPPr>
          </a:lstStyle>
          <a:p xmlns:a="http://schemas.openxmlformats.org/drawingml/2006/main">
            <a:pPr algn="l">
              <a:defRPr sz="2025" b="0">
                <a:solidFill>
                  <a:srgbClr val="697179"/>
                </a:solidFill>
                <a:latin typeface="Helvetica Neue"/>
                <a:ea typeface="Helvetica Neue"/>
                <a:cs typeface="Helvetica Neue"/>
              </a:defRPr>
            </a:pPr>
            <a:r>
              <a:rPr sz="2025" b="0">
                <a:solidFill>
                  <a:srgbClr val="697179"/>
                </a:solidFill>
                <a:latin typeface="Helvetica Neue"/>
                <a:ea typeface="Helvetica Neue"/>
                <a:cs typeface="Helvetica Neue"/>
              </a:rPr>
              <a:t>Price checks and memory</a:t>
            </a:r>
          </a:p>
        </p:txBody>
      </p:sp>
      <p:sp>
        <p:nvSpPr>
          <p:cNvPr id="10" name="scene-11-item-9">
            <a:extLst xmlns:a="http://schemas.openxmlformats.org/drawingml/2006/main">
              <a:ext uri="{FF2B5EF4-FFF2-40B4-BE49-F238E27FC236}">
                <a16:creationId xmlns:a16="http://schemas.microsoft.com/office/drawing/2014/main" id="{E7410F84-E5E7-426C-A472-AC9A580CA3F2}"/>
              </a:ext>
            </a:extLst>
          </p:cNvPr>
          <p:cNvSpPr>
            <a:spLocks xmlns:a="http://schemas.openxmlformats.org/drawingml/2006/main" noGrp="1"/>
          </p:cNvSpPr>
          <p:nvPr/>
        </p:nvSpPr>
        <p:spPr>
          <a:xfrm xmlns:a="http://schemas.openxmlformats.org/drawingml/2006/main">
            <a:off x="742950" y="61912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697179"/>
                </a:solidFill>
                <a:latin typeface="Helvetica Neue"/>
                <a:ea typeface="Helvetica Neue"/>
                <a:cs typeface="Helvetica Neue"/>
              </a:defRPr>
            </a:defPPr>
          </a:lstStyle>
          <a:p xmlns:a="http://schemas.openxmlformats.org/drawingml/2006/main">
            <a:pPr algn="l">
              <a:defRPr sz="1500" b="0">
                <a:solidFill>
                  <a:srgbClr val="697179"/>
                </a:solidFill>
                <a:latin typeface="Helvetica Neue"/>
                <a:ea typeface="Helvetica Neue"/>
                <a:cs typeface="Helvetica Neue"/>
              </a:defRPr>
            </a:pPr>
            <a:r>
              <a:rPr sz="1500" b="0">
                <a:solidFill>
                  <a:srgbClr val="697179"/>
                </a:solidFill>
                <a:latin typeface="Helvetica Neue"/>
                <a:ea typeface="Helvetica Neue"/>
                <a:cs typeface="Helvetica Neue"/>
              </a:rPr>
              <a:t>Configured services run live. Each unavailable integration shows a labeled fallback.</a:t>
            </a:r>
          </a:p>
        </p:txBody>
      </p:sp>
    </p:spTree>
    <p:extLst>
      <p:ext uri="{BB962C8B-B14F-4D97-AF65-F5344CB8AC3E}">
        <p14:creationId xmlns:p14="http://schemas.microsoft.com/office/powerpoint/2010/main" val="33665311"/>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6FBD821-459F-4045-8B9D-43E8147A683A}"/>
              </a:ext>
            </a:extLst>
          </p:cNvPr>
          <p:cNvSpPr>
            <a:spLocks xmlns:a="http://schemas.openxmlformats.org/drawingml/2006/main" noGrp="1"/>
          </p:cNvSpPr>
          <p:nvPr/>
        </p:nvSpPr>
        <p:spPr>
          <a:xfrm xmlns:a="http://schemas.openxmlformats.org/drawingml/2006/main">
            <a:off x="742950" y="666750"/>
            <a:ext cx="1076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17202A"/>
                </a:solidFill>
                <a:latin typeface="Helvetica Neue"/>
                <a:ea typeface="Helvetica Neue"/>
                <a:cs typeface="Helvetica Neue"/>
              </a:defRPr>
            </a:defPPr>
          </a:lstStyle>
          <a:p xmlns:a="http://schemas.openxmlformats.org/drawingml/2006/main">
            <a:pPr algn="l">
              <a:defRPr sz="6000" b="1">
                <a:solidFill>
                  <a:srgbClr val="17202A"/>
                </a:solidFill>
                <a:latin typeface="Helvetica Neue"/>
                <a:ea typeface="Helvetica Neue"/>
                <a:cs typeface="Helvetica Neue"/>
              </a:defRPr>
            </a:pPr>
            <a:r>
              <a:rPr sz="6000" b="1">
                <a:solidFill>
                  <a:srgbClr val="17202A"/>
                </a:solidFill>
                <a:latin typeface="Helvetica Neue"/>
                <a:ea typeface="Helvetica Neue"/>
                <a:cs typeface="Helvetica Neue"/>
              </a:rPr>
              <a:t>Pact, in action</a:t>
            </a:r>
          </a:p>
        </p:txBody>
      </p:sp>
      <p:pic>
        <p:nvPicPr>
          <p:cNvPr id="2" name="!!WorkspaceScreenshot">
            <a:extLst xmlns:a="http://schemas.openxmlformats.org/drawingml/2006/main">
              <a:ext uri="{FF2B5EF4-FFF2-40B4-BE49-F238E27FC236}">
                <a16:creationId xmlns:a16="http://schemas.microsoft.com/office/drawing/2014/main" id="{0D6D818E-54F3-434C-9336-4895925558B3}"/>
              </a:ext>
            </a:extLst>
          </p:cNvPr>
          <p:cNvPicPr>
            <a:picLocks xmlns:a="http://schemas.openxmlformats.org/drawingml/2006/main" noChangeAspect="1"/>
          </p:cNvPicPr>
          <p:nvPr/>
        </p:nvPicPr>
        <p:blipFill>
          <a:blip xmlns:r="http://schemas.openxmlformats.org/officeDocument/2006/relationships" xmlns:a="http://schemas.openxmlformats.org/drawingml/2006/main" r:embed="R34800c9aa56e4a89"/>
          <a:stretch xmlns:a="http://schemas.openxmlformats.org/drawingml/2006/main"/>
        </p:blipFill>
        <p:spPr>
          <a:xfrm xmlns:a="http://schemas.openxmlformats.org/drawingml/2006/main">
            <a:off x="4779472" y="2247900"/>
            <a:ext cx="5738206" cy="4048125"/>
          </a:xfrm>
          <a:prstGeom xmlns:a="http://schemas.openxmlformats.org/drawingml/2006/main" prst="rect">
            <a:avLst/>
          </a:prstGeom>
        </p:spPr>
      </p:pic>
      <p:sp>
        <p:nvSpPr>
          <p:cNvPr id="3" name="scene-12-item-2">
            <a:extLst xmlns:a="http://schemas.openxmlformats.org/drawingml/2006/main">
              <a:ext uri="{FF2B5EF4-FFF2-40B4-BE49-F238E27FC236}">
                <a16:creationId xmlns:a16="http://schemas.microsoft.com/office/drawing/2014/main" id="{596F0190-5162-4D19-BCDC-A0691387F7BF}"/>
              </a:ext>
            </a:extLst>
          </p:cNvPr>
          <p:cNvSpPr>
            <a:spLocks xmlns:a="http://schemas.openxmlformats.org/drawingml/2006/main" noGrp="1"/>
          </p:cNvSpPr>
          <p:nvPr/>
        </p:nvSpPr>
        <p:spPr>
          <a:xfrm xmlns:a="http://schemas.openxmlformats.org/drawingml/2006/main">
            <a:off x="781050" y="2724150"/>
            <a:ext cx="30003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0">
                <a:solidFill>
                  <a:srgbClr val="17202A"/>
                </a:solidFill>
                <a:latin typeface="Helvetica Neue"/>
                <a:ea typeface="Helvetica Neue"/>
                <a:cs typeface="Helvetica Neue"/>
              </a:defRPr>
            </a:defPPr>
          </a:lstStyle>
          <a:p xmlns:a="http://schemas.openxmlformats.org/drawingml/2006/main">
            <a:pPr algn="l">
              <a:defRPr sz="2925" b="0">
                <a:solidFill>
                  <a:srgbClr val="17202A"/>
                </a:solidFill>
                <a:latin typeface="Helvetica Neue"/>
                <a:ea typeface="Helvetica Neue"/>
                <a:cs typeface="Helvetica Neue"/>
              </a:defRPr>
            </a:pPr>
            <a:r>
              <a:rPr sz="2925" b="0">
                <a:solidFill>
                  <a:srgbClr val="17202A"/>
                </a:solidFill>
                <a:latin typeface="Helvetica Neue"/>
                <a:ea typeface="Helvetica Neue"/>
                <a:cs typeface="Helvetica Neue"/>
              </a:rPr>
              <a:t>A request.</a:t>
            </a:r>
          </a:p>
          <a:p xmlns:a="http://schemas.openxmlformats.org/drawingml/2006/main">
            <a:pPr algn="l">
              <a:defRPr sz="2925" b="0">
                <a:solidFill>
                  <a:srgbClr val="17202A"/>
                </a:solidFill>
                <a:latin typeface="Helvetica Neue"/>
                <a:ea typeface="Helvetica Neue"/>
                <a:cs typeface="Helvetica Neue"/>
              </a:defRPr>
            </a:pPr>
            <a:r>
              <a:rPr sz="2925" b="0">
                <a:solidFill>
                  <a:srgbClr val="17202A"/>
                </a:solidFill>
                <a:latin typeface="Helvetica Neue"/>
                <a:ea typeface="Helvetica Neue"/>
                <a:cs typeface="Helvetica Neue"/>
              </a:rPr>
              <a:t>An offer.</a:t>
            </a:r>
          </a:p>
          <a:p xmlns:a="http://schemas.openxmlformats.org/drawingml/2006/main">
            <a:pPr algn="l">
              <a:defRPr sz="2925" b="0">
                <a:solidFill>
                  <a:srgbClr val="17202A"/>
                </a:solidFill>
                <a:latin typeface="Helvetica Neue"/>
                <a:ea typeface="Helvetica Neue"/>
                <a:cs typeface="Helvetica Neue"/>
              </a:defRPr>
            </a:pPr>
            <a:r>
              <a:rPr sz="2925" b="0">
                <a:solidFill>
                  <a:srgbClr val="17202A"/>
                </a:solidFill>
                <a:latin typeface="Helvetica Neue"/>
                <a:ea typeface="Helvetica Neue"/>
                <a:cs typeface="Helvetica Neue"/>
              </a:rPr>
              <a:t>Your decision.</a:t>
            </a:r>
          </a:p>
        </p:txBody>
      </p:sp>
      <p:sp>
        <p:nvSpPr>
          <p:cNvPr id="4" name="scene-12-item-3">
            <a:extLst xmlns:a="http://schemas.openxmlformats.org/drawingml/2006/main">
              <a:ext uri="{FF2B5EF4-FFF2-40B4-BE49-F238E27FC236}">
                <a16:creationId xmlns:a16="http://schemas.microsoft.com/office/drawing/2014/main" id="{6FAB2A82-9E2D-4D55-B20A-6EBD341D51D0}"/>
              </a:ext>
            </a:extLst>
          </p:cNvPr>
          <p:cNvSpPr>
            <a:spLocks xmlns:a="http://schemas.openxmlformats.org/drawingml/2006/main" noGrp="1"/>
          </p:cNvSpPr>
          <p:nvPr/>
        </p:nvSpPr>
        <p:spPr>
          <a:xfrm xmlns:a="http://schemas.openxmlformats.org/drawingml/2006/main">
            <a:off x="800100" y="5381625"/>
            <a:ext cx="2876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3669AE"/>
                </a:solidFill>
                <a:latin typeface="Helvetica Neue"/>
                <a:ea typeface="Helvetica Neue"/>
                <a:cs typeface="Helvetica Neue"/>
              </a:defRPr>
            </a:defPPr>
          </a:lstStyle>
          <a:p xmlns:a="http://schemas.openxmlformats.org/drawingml/2006/main">
            <a:pPr algn="l">
              <a:defRPr sz="2025" b="0">
                <a:solidFill>
                  <a:srgbClr val="3669AE"/>
                </a:solidFill>
                <a:latin typeface="Helvetica Neue"/>
                <a:ea typeface="Helvetica Neue"/>
                <a:cs typeface="Helvetica Neue"/>
              </a:defRPr>
            </a:pPr>
            <a:r>
              <a:rPr sz="2025" b="0">
                <a:solidFill>
                  <a:srgbClr val="3669AE"/>
                </a:solidFill>
                <a:latin typeface="Helvetica Neue"/>
                <a:ea typeface="Helvetica Neue"/>
                <a:cs typeface="Helvetica Neue"/>
                <a:hlinkClick xmlns:r="http://schemas.openxmlformats.org/officeDocument/2006/relationships" r:id="Rf1e70bc126604ac2"/>
              </a:rPr>
              <a:t>Open the live demo</a:t>
            </a:r>
          </a:p>
        </p:txBody>
      </p:sp>
    </p:spTree>
    <p:extLst>
      <p:ext uri="{BB962C8B-B14F-4D97-AF65-F5344CB8AC3E}">
        <p14:creationId xmlns:p14="http://schemas.microsoft.com/office/powerpoint/2010/main" val="302609522"/>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pic>
        <p:nvPicPr>
          <p:cNvPr id="4" name="!!PactGlass">
            <a:extLst xmlns:a="http://schemas.openxmlformats.org/drawingml/2006/main">
              <a:ext uri="{FF2B5EF4-FFF2-40B4-BE49-F238E27FC236}">
                <a16:creationId xmlns:a16="http://schemas.microsoft.com/office/drawing/2014/main" id="{88A95952-CEC0-488C-AF20-6230217EF0CE}"/>
              </a:ext>
            </a:extLst>
          </p:cNvPr>
          <p:cNvPicPr>
            <a:picLocks xmlns:a="http://schemas.openxmlformats.org/drawingml/2006/main" noChangeAspect="1"/>
          </p:cNvPicPr>
          <p:nvPr/>
        </p:nvPicPr>
        <p:blipFill>
          <a:blip xmlns:r="http://schemas.openxmlformats.org/officeDocument/2006/relationships" xmlns:a="http://schemas.openxmlformats.org/drawingml/2006/main" r:embed="Rcc88f9569397409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PactTitle">
            <a:extLst xmlns:a="http://schemas.openxmlformats.org/drawingml/2006/main">
              <a:ext uri="{FF2B5EF4-FFF2-40B4-BE49-F238E27FC236}">
                <a16:creationId xmlns:a16="http://schemas.microsoft.com/office/drawing/2014/main" id="{F8E8748A-2EE9-4D98-BD63-EDDE143D76BD}"/>
              </a:ext>
            </a:extLst>
          </p:cNvPr>
          <p:cNvSpPr>
            <a:spLocks xmlns:a="http://schemas.openxmlformats.org/drawingml/2006/main" noGrp="1"/>
          </p:cNvSpPr>
          <p:nvPr/>
        </p:nvSpPr>
        <p:spPr>
          <a:xfrm xmlns:a="http://schemas.openxmlformats.org/drawingml/2006/main">
            <a:off x="723900" y="1981200"/>
            <a:ext cx="51435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1850" b="1">
                <a:solidFill>
                  <a:srgbClr val="17202A"/>
                </a:solidFill>
                <a:latin typeface="Helvetica Neue"/>
                <a:ea typeface="Helvetica Neue"/>
                <a:cs typeface="Helvetica Neue"/>
              </a:defRPr>
            </a:defPPr>
          </a:lstStyle>
          <a:p xmlns:a="http://schemas.openxmlformats.org/drawingml/2006/main">
            <a:pPr algn="l">
              <a:defRPr sz="11850" b="1">
                <a:solidFill>
                  <a:srgbClr val="17202A"/>
                </a:solidFill>
                <a:latin typeface="Helvetica Neue"/>
                <a:ea typeface="Helvetica Neue"/>
                <a:cs typeface="Helvetica Neue"/>
              </a:defRPr>
            </a:pPr>
            <a:r>
              <a:rPr sz="11850" b="1">
                <a:solidFill>
                  <a:srgbClr val="17202A"/>
                </a:solidFill>
                <a:latin typeface="Helvetica Neue"/>
                <a:ea typeface="Helvetica Neue"/>
                <a:cs typeface="Helvetica Neue"/>
              </a:rPr>
              <a:t>Pact</a:t>
            </a:r>
          </a:p>
        </p:txBody>
      </p:sp>
      <p:sp>
        <p:nvSpPr>
          <p:cNvPr id="3" name="scene-13-item-2">
            <a:extLst xmlns:a="http://schemas.openxmlformats.org/drawingml/2006/main">
              <a:ext uri="{FF2B5EF4-FFF2-40B4-BE49-F238E27FC236}">
                <a16:creationId xmlns:a16="http://schemas.microsoft.com/office/drawing/2014/main" id="{1EFB7283-83A5-4E90-940A-35E0DA3A7550}"/>
              </a:ext>
            </a:extLst>
          </p:cNvPr>
          <p:cNvSpPr>
            <a:spLocks xmlns:a="http://schemas.openxmlformats.org/drawingml/2006/main" noGrp="1"/>
          </p:cNvSpPr>
          <p:nvPr/>
        </p:nvSpPr>
        <p:spPr>
          <a:xfrm xmlns:a="http://schemas.openxmlformats.org/drawingml/2006/main">
            <a:off x="800100" y="3971925"/>
            <a:ext cx="600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17202A"/>
                </a:solidFill>
                <a:latin typeface="Helvetica Neue"/>
                <a:ea typeface="Helvetica Neue"/>
                <a:cs typeface="Helvetica Neue"/>
              </a:defRPr>
            </a:defPPr>
          </a:lstStyle>
          <a:p xmlns:a="http://schemas.openxmlformats.org/drawingml/2006/main">
            <a:pPr algn="l">
              <a:defRPr sz="3000" b="0">
                <a:solidFill>
                  <a:srgbClr val="17202A"/>
                </a:solidFill>
                <a:latin typeface="Helvetica Neue"/>
                <a:ea typeface="Helvetica Neue"/>
                <a:cs typeface="Helvetica Neue"/>
              </a:defRPr>
            </a:pPr>
            <a:r>
              <a:rPr sz="3000" b="0">
                <a:solidFill>
                  <a:srgbClr val="17202A"/>
                </a:solidFill>
                <a:latin typeface="Helvetica Neue"/>
                <a:ea typeface="Helvetica Neue"/>
                <a:cs typeface="Helvetica Neue"/>
              </a:rPr>
              <a:t>Your rules.</a:t>
            </a:r>
          </a:p>
          <a:p xmlns:a="http://schemas.openxmlformats.org/drawingml/2006/main">
            <a:pPr algn="l">
              <a:defRPr sz="3000" b="0">
                <a:solidFill>
                  <a:srgbClr val="17202A"/>
                </a:solidFill>
                <a:latin typeface="Helvetica Neue"/>
                <a:ea typeface="Helvetica Neue"/>
                <a:cs typeface="Helvetica Neue"/>
              </a:defRPr>
            </a:pPr>
            <a:r>
              <a:rPr sz="3000" b="0">
                <a:solidFill>
                  <a:srgbClr val="17202A"/>
                </a:solidFill>
                <a:latin typeface="Helvetica Neue"/>
                <a:ea typeface="Helvetica Neue"/>
                <a:cs typeface="Helvetica Neue"/>
              </a:rPr>
              <a:t>Your agent. Your call.</a:t>
            </a:r>
          </a:p>
        </p:txBody>
      </p:sp>
    </p:spTree>
    <p:extLst>
      <p:ext uri="{BB962C8B-B14F-4D97-AF65-F5344CB8AC3E}">
        <p14:creationId xmlns:p14="http://schemas.microsoft.com/office/powerpoint/2010/main" val="475927576"/>
      </p:ext>
    </p:extLst>
  </p:cSld>
  <mc:AlternateContent xmlns:mc="http://schemas.openxmlformats.org/markup-compatibility/2006" xmlns:p159="http://schemas.microsoft.com/office/powerpoint/2015/09/main" xmlns:p14="http://schemas.microsoft.com/office/powerpoint/2010/main">
    <mc:Choice Requires="p159">
      <p:transition spd="slow" advClick="1" p14:dur="1400">
        <p159:morph option="byObject"/>
      </p:transition>
    </mc:Choice>
    <mc:Fallback>
      <p:transition spd="med" advClick="1">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2026-10-03T23:14:49.9130000Z</dcterms:created>
  <dcterms:modified xsi:type="dcterms:W3CDTF">2026-10-03T23:14:49.9130000Z</dcterms:modified>
</coreProperties>
</file>